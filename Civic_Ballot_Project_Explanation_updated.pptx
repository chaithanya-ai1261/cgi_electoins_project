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74" d="100"/>
          <a:sy n="74" d="100"/>
        </p:scale>
        <p:origin x="936" y="77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EA30B2-EBA7-DC0C-0E55-8A83010E09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0E120F-F765-7F32-29D0-9A7E5B5A89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C4BDE9-AA9A-6CA8-8E4E-B78621BEFE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371C31-F8D8-2B6B-65C4-90FC0C4CC5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43DB37-3234-FD8B-0B3C-74BF6920D9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9C6F0-1636-2180-9E2F-B40A9D43A4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749D29-0495-827A-2349-761C0A3FAD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32C97-A35A-493F-609B-0EF56FCC6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B8D7F6-6D02-755B-CB65-433B37A172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3A87C1-23B3-EA66-6131-FF5F644168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5B36B3-3D78-1230-2133-127EC5ED36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7192E-7395-5D28-D6C0-5D869D3D7D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F47EDB-E856-5B09-9CAE-18D5BD5A20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FBAE2B-7B36-CF6C-00F3-7C82A860F8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1B2425-44D3-8A2C-3A72-A14448C6D5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CD9C8-ABA2-B714-0861-CAB874D99E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with Pi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419787" name="Title 4"/>
          <p:cNvSpPr>
            <a:spLocks noGrp="1"/>
          </p:cNvSpPr>
          <p:nvPr>
            <p:ph type="title"/>
          </p:nvPr>
        </p:nvSpPr>
        <p:spPr bwMode="auto">
          <a:xfrm>
            <a:off x="6857998" y="964075"/>
            <a:ext cx="4654297" cy="373989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7370018" name="Subtitle 2"/>
          <p:cNvSpPr>
            <a:spLocks noGrp="1"/>
          </p:cNvSpPr>
          <p:nvPr>
            <p:ph type="subTitle" idx="1"/>
          </p:nvPr>
        </p:nvSpPr>
        <p:spPr bwMode="auto"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46990617" name="Footer Placeholder 1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2973890" name="Picture Placeholder 9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 fill="norm" stroke="1" extrusionOk="0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 rotWithShape="1">
            <a:blip r:embed="rId2">
              <a:alphaModFix amt="70000"/>
            </a:blip>
            <a:stretch/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1843076051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425981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227070556" name="Slide Number Placeholder 1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074482" name="Title 6"/>
          <p:cNvSpPr>
            <a:spLocks noGrp="1"/>
          </p:cNvSpPr>
          <p:nvPr>
            <p:ph type="title"/>
          </p:nvPr>
        </p:nvSpPr>
        <p:spPr bwMode="auto">
          <a:xfrm>
            <a:off x="731520" y="365760"/>
            <a:ext cx="10741152" cy="113225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915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0430832" name="Content Placeholder 2"/>
          <p:cNvSpPr>
            <a:spLocks noGrp="1"/>
          </p:cNvSpPr>
          <p:nvPr>
            <p:ph idx="1"/>
          </p:nvPr>
        </p:nvSpPr>
        <p:spPr bwMode="auto"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122210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2044416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with Pictur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81199" name="Title 1"/>
          <p:cNvSpPr>
            <a:spLocks noGrp="1"/>
          </p:cNvSpPr>
          <p:nvPr>
            <p:ph type="ctrTitle"/>
          </p:nvPr>
        </p:nvSpPr>
        <p:spPr bwMode="auto"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0625453" name="Subtitle 2"/>
          <p:cNvSpPr>
            <a:spLocks noGrp="1"/>
          </p:cNvSpPr>
          <p:nvPr>
            <p:ph type="subTitle" idx="1"/>
          </p:nvPr>
        </p:nvSpPr>
        <p:spPr bwMode="auto"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09775651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1999" cy="4986425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492255473" name="Footer Placeholder 5"/>
          <p:cNvSpPr>
            <a:spLocks noGrp="1"/>
          </p:cNvSpPr>
          <p:nvPr>
            <p:ph type="ftr" sz="quarter" idx="15"/>
          </p:nvPr>
        </p:nvSpPr>
        <p:spPr bwMode="auto">
          <a:xfrm rot="16199999">
            <a:off x="-396119" y="5787191"/>
            <a:ext cx="150344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0944099" name="Date Placeholder 4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cxnSp>
        <p:nvCxnSpPr>
          <p:cNvPr id="1527053132" name="Straight Connector 3"/>
          <p:cNvCxnSpPr/>
          <p:nvPr/>
        </p:nvCxnSpPr>
        <p:spPr bwMode="auto"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4020058" name="Slide Number Placeholder 6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315315" name="Title 7"/>
          <p:cNvSpPr>
            <a:spLocks noGrp="1"/>
          </p:cNvSpPr>
          <p:nvPr>
            <p:ph type="title"/>
          </p:nvPr>
        </p:nvSpPr>
        <p:spPr bwMode="auto"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cxnSp>
        <p:nvCxnSpPr>
          <p:cNvPr id="428807667" name="Straight Connector 6"/>
          <p:cNvCxnSpPr/>
          <p:nvPr/>
        </p:nvCxnSpPr>
        <p:spPr bwMode="auto"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7676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1289969" name="Text Placeholder 15"/>
          <p:cNvSpPr>
            <a:spLocks noGrp="1"/>
          </p:cNvSpPr>
          <p:nvPr>
            <p:ph type="body" sz="quarter" idx="15"/>
          </p:nvPr>
        </p:nvSpPr>
        <p:spPr bwMode="auto"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68694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8849756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3970" name="Title 2"/>
          <p:cNvSpPr>
            <a:spLocks noGrp="1"/>
          </p:cNvSpPr>
          <p:nvPr>
            <p:ph type="title"/>
          </p:nvPr>
        </p:nvSpPr>
        <p:spPr bwMode="auto"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60323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110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054200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268622442" name="Straight Connector 6"/>
          <p:cNvCxnSpPr/>
          <p:nvPr/>
        </p:nvCxnSpPr>
        <p:spPr bwMode="auto"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899049" name="Title 9"/>
          <p:cNvSpPr>
            <a:spLocks noGrp="1"/>
          </p:cNvSpPr>
          <p:nvPr>
            <p:ph type="title"/>
          </p:nvPr>
        </p:nvSpPr>
        <p:spPr bwMode="auto"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 fill="norm" stroke="1" extrusionOk="0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996070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0252856" name="Content Placeholder 7"/>
          <p:cNvSpPr>
            <a:spLocks noGrp="1"/>
          </p:cNvSpPr>
          <p:nvPr>
            <p:ph sz="quarter" idx="13"/>
          </p:nvPr>
        </p:nvSpPr>
        <p:spPr bwMode="auto"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523918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0385183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with Pi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31183" name="Title 1"/>
          <p:cNvSpPr>
            <a:spLocks noGrp="1"/>
          </p:cNvSpPr>
          <p:nvPr>
            <p:ph type="title"/>
          </p:nvPr>
        </p:nvSpPr>
        <p:spPr bwMode="auto"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18335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7707150" name="Picture Placeholder 7"/>
          <p:cNvSpPr>
            <a:spLocks noGrp="1"/>
          </p:cNvSpPr>
          <p:nvPr>
            <p:ph type="pic" idx="13" hasCustomPrompt="1"/>
          </p:nvPr>
        </p:nvSpPr>
        <p:spPr bwMode="auto"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 fill="norm" stroke="1" extrusionOk="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 rotWithShape="1">
            <a:blip r:embed="rId2">
              <a:alphaModFix amt="70000"/>
            </a:blip>
            <a:stretch/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784308665" name="Content Placeholder 2"/>
          <p:cNvSpPr>
            <a:spLocks noGrp="1"/>
          </p:cNvSpPr>
          <p:nvPr>
            <p:ph idx="1"/>
          </p:nvPr>
        </p:nvSpPr>
        <p:spPr bwMode="auto"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946958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6771512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474344756" name="Straight Connector 6"/>
          <p:cNvCxnSpPr/>
          <p:nvPr/>
        </p:nvCxnSpPr>
        <p:spPr bwMode="auto"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578196" name="Title 1"/>
          <p:cNvSpPr>
            <a:spLocks noGrp="1"/>
          </p:cNvSpPr>
          <p:nvPr>
            <p:ph type="title"/>
          </p:nvPr>
        </p:nvSpPr>
        <p:spPr bwMode="auto"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229471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7421177" name="Content Placeholder 7"/>
          <p:cNvSpPr>
            <a:spLocks noGrp="1"/>
          </p:cNvSpPr>
          <p:nvPr>
            <p:ph sz="quarter" idx="13"/>
          </p:nvPr>
        </p:nvSpPr>
        <p:spPr bwMode="auto"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62572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31078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221499277" name="Straight Connector 2"/>
          <p:cNvCxnSpPr/>
          <p:nvPr/>
        </p:nvCxnSpPr>
        <p:spPr bwMode="auto"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231184" name="Title 1"/>
          <p:cNvSpPr>
            <a:spLocks noGrp="1"/>
          </p:cNvSpPr>
          <p:nvPr>
            <p:ph type="title"/>
          </p:nvPr>
        </p:nvSpPr>
        <p:spPr bwMode="auto"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40607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882685" name="Content Placeholder 7"/>
          <p:cNvSpPr>
            <a:spLocks noGrp="1"/>
          </p:cNvSpPr>
          <p:nvPr>
            <p:ph sz="quarter" idx="13"/>
          </p:nvPr>
        </p:nvSpPr>
        <p:spPr bwMode="auto"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618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5982631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885144691" name="Straight Connector 2"/>
          <p:cNvCxnSpPr/>
          <p:nvPr/>
        </p:nvCxnSpPr>
        <p:spPr bwMode="auto"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863213" name="Title 1"/>
          <p:cNvSpPr>
            <a:spLocks noGrp="1"/>
          </p:cNvSpPr>
          <p:nvPr>
            <p:ph type="title"/>
          </p:nvPr>
        </p:nvSpPr>
        <p:spPr bwMode="auto"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54178382" name="Picture Placeholder 9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 fill="norm" stroke="1" extrusionOk="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 amt="70000"/>
            </a:blip>
            <a:stretch/>
          </a:blipFill>
        </p:spPr>
        <p:txBody>
          <a:bodyPr wrap="square">
            <a:noAutofit/>
          </a:bodyPr>
          <a:lstStyle>
            <a:lvl1pPr marL="0" indent="0">
              <a:buFont typeface="Arial"/>
              <a:buNone/>
              <a:defRPr/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1029422398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  <a:lvl2pPr marL="228600" indent="0">
              <a:buNone/>
              <a:defRPr lang="en-US" sz="1400"/>
            </a:lvl2pPr>
            <a:lvl3pPr marL="457200" indent="0">
              <a:buNone/>
              <a:defRPr lang="en-US" sz="1400"/>
            </a:lvl3pPr>
            <a:lvl4pPr marL="685800" indent="0">
              <a:buNone/>
              <a:defRPr lang="en-US" sz="1400"/>
            </a:lvl4pPr>
            <a:lvl5pPr marL="914400" indent="0">
              <a:buNone/>
              <a:defRPr lang="en-US" sz="14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6185860" name="Footer Placeholder 5"/>
          <p:cNvSpPr>
            <a:spLocks noGrp="1"/>
          </p:cNvSpPr>
          <p:nvPr>
            <p:ph type="ftr" sz="quarter" idx="16"/>
          </p:nvPr>
        </p:nvSpPr>
        <p:spPr bwMode="auto">
          <a:xfrm rot="5400000">
            <a:off x="10292564" y="1592958"/>
            <a:ext cx="2973521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8317619" name="Date Placeholder 4"/>
          <p:cNvSpPr>
            <a:spLocks noGrp="1"/>
          </p:cNvSpPr>
          <p:nvPr>
            <p:ph type="dt" sz="half" idx="15"/>
          </p:nvPr>
        </p:nvSpPr>
        <p:spPr bwMode="auto"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879132324" name="Slide Number Placeholder 6"/>
          <p:cNvSpPr>
            <a:spLocks noGrp="1"/>
          </p:cNvSpPr>
          <p:nvPr>
            <p:ph type="sldNum" sz="quarter" idx="17"/>
          </p:nvPr>
        </p:nvSpPr>
        <p:spPr bwMode="auto"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777227734" name="Straight Connector 2"/>
          <p:cNvCxnSpPr/>
          <p:nvPr/>
        </p:nvCxnSpPr>
        <p:spPr bwMode="auto"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02720" name="Title 1"/>
          <p:cNvSpPr>
            <a:spLocks noGrp="1"/>
          </p:cNvSpPr>
          <p:nvPr>
            <p:ph type="title"/>
          </p:nvPr>
        </p:nvSpPr>
        <p:spPr bwMode="auto"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8097536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1"/>
            <a:ext cx="4793885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1518968889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47581984" name="Straight Connector 2"/>
          <p:cNvCxnSpPr/>
          <p:nvPr/>
        </p:nvCxnSpPr>
        <p:spPr bwMode="auto"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613567" name="Date Placeholder 3"/>
          <p:cNvSpPr>
            <a:spLocks noGrp="1"/>
          </p:cNvSpPr>
          <p:nvPr>
            <p:ph type="dt" sz="half" idx="15"/>
          </p:nvPr>
        </p:nvSpPr>
        <p:spPr bwMode="auto">
          <a:xfrm rot="5400000">
            <a:off x="10425981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874284185" name="Footer Placeholder 8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10292565" y="1592957"/>
            <a:ext cx="2973521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085963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573740" name="Title 1"/>
          <p:cNvSpPr>
            <a:spLocks noGrp="1"/>
          </p:cNvSpPr>
          <p:nvPr>
            <p:ph type="title"/>
          </p:nvPr>
        </p:nvSpPr>
        <p:spPr bwMode="auto"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45736974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65875484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7400543" y="0"/>
            <a:ext cx="4791456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cxnSp>
        <p:nvCxnSpPr>
          <p:cNvPr id="1615005817" name="Straight Connector 5"/>
          <p:cNvCxnSpPr/>
          <p:nvPr/>
        </p:nvCxnSpPr>
        <p:spPr bwMode="auto"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4796254" name="Date Placeholder 3"/>
          <p:cNvSpPr>
            <a:spLocks noGrp="1"/>
          </p:cNvSpPr>
          <p:nvPr>
            <p:ph type="dt" sz="half" idx="15"/>
          </p:nvPr>
        </p:nvSpPr>
        <p:spPr bwMode="auto"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190768140" name="Footer Placeholder 6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-1131161" y="1592957"/>
            <a:ext cx="2973521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571705" name="Slide Number Placeholder 8"/>
          <p:cNvSpPr>
            <a:spLocks noGrp="1"/>
          </p:cNvSpPr>
          <p:nvPr>
            <p:ph type="sldNum" sz="quarter" idx="17"/>
          </p:nvPr>
        </p:nvSpPr>
        <p:spPr bwMode="auto"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708084" name="Title 1"/>
          <p:cNvSpPr>
            <a:spLocks noGrp="1"/>
          </p:cNvSpPr>
          <p:nvPr>
            <p:ph type="title"/>
          </p:nvPr>
        </p:nvSpPr>
        <p:spPr bwMode="auto"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19828016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2108510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091732" y="0"/>
            <a:ext cx="4100267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cxnSp>
        <p:nvCxnSpPr>
          <p:cNvPr id="1332904979" name="Straight Connector 3"/>
          <p:cNvCxnSpPr/>
          <p:nvPr/>
        </p:nvCxnSpPr>
        <p:spPr bwMode="auto"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3425467" name="Date Placeholder 2"/>
          <p:cNvSpPr>
            <a:spLocks noGrp="1"/>
          </p:cNvSpPr>
          <p:nvPr>
            <p:ph type="dt" sz="half" idx="15"/>
          </p:nvPr>
        </p:nvSpPr>
        <p:spPr bwMode="auto"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858508848" name="Footer Placeholder 4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-1131161" y="1592957"/>
            <a:ext cx="2973521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3710413" name="Slide Number Placeholder 5"/>
          <p:cNvSpPr>
            <a:spLocks noGrp="1"/>
          </p:cNvSpPr>
          <p:nvPr>
            <p:ph type="sldNum" sz="quarter" idx="17"/>
          </p:nvPr>
        </p:nvSpPr>
        <p:spPr bwMode="auto"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366038" name="Title 1"/>
          <p:cNvSpPr>
            <a:spLocks noGrp="1"/>
          </p:cNvSpPr>
          <p:nvPr>
            <p:ph type="title"/>
          </p:nvPr>
        </p:nvSpPr>
        <p:spPr bwMode="auto"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7156805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40240318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5745480" y="0"/>
            <a:ext cx="644652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cxnSp>
        <p:nvCxnSpPr>
          <p:cNvPr id="689135060" name="Straight Connector 4"/>
          <p:cNvCxnSpPr/>
          <p:nvPr/>
        </p:nvCxnSpPr>
        <p:spPr bwMode="auto"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203322" name="Date Placeholder 2"/>
          <p:cNvSpPr>
            <a:spLocks noGrp="1"/>
          </p:cNvSpPr>
          <p:nvPr>
            <p:ph type="dt" sz="half" idx="15"/>
          </p:nvPr>
        </p:nvSpPr>
        <p:spPr bwMode="auto"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829833864" name="Footer Placeholder 4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-1131161" y="1592957"/>
            <a:ext cx="2973521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9634773" name="Slide Number Placeholder 5"/>
          <p:cNvSpPr>
            <a:spLocks noGrp="1"/>
          </p:cNvSpPr>
          <p:nvPr>
            <p:ph type="sldNum" sz="quarter" idx="17"/>
          </p:nvPr>
        </p:nvSpPr>
        <p:spPr bwMode="auto"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44786" name="Title 1"/>
          <p:cNvSpPr>
            <a:spLocks noGrp="1"/>
          </p:cNvSpPr>
          <p:nvPr>
            <p:ph type="title"/>
          </p:nvPr>
        </p:nvSpPr>
        <p:spPr bwMode="auto"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329018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8968162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5917720" y="0"/>
            <a:ext cx="6274279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cxnSp>
        <p:nvCxnSpPr>
          <p:cNvPr id="1911124739" name="Straight Connector 4"/>
          <p:cNvCxnSpPr/>
          <p:nvPr/>
        </p:nvCxnSpPr>
        <p:spPr bwMode="auto"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4916848" name="Date Placeholder 2"/>
          <p:cNvSpPr>
            <a:spLocks noGrp="1"/>
          </p:cNvSpPr>
          <p:nvPr>
            <p:ph type="dt" sz="half" idx="15"/>
          </p:nvPr>
        </p:nvSpPr>
        <p:spPr bwMode="auto"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981887828" name="Footer Placeholder 4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-1131161" y="1592957"/>
            <a:ext cx="2973521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2529942" name="Slide Number Placeholder 5"/>
          <p:cNvSpPr>
            <a:spLocks noGrp="1"/>
          </p:cNvSpPr>
          <p:nvPr>
            <p:ph type="sldNum" sz="quarter" idx="17"/>
          </p:nvPr>
        </p:nvSpPr>
        <p:spPr bwMode="auto"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344615" name="Title 1"/>
          <p:cNvSpPr>
            <a:spLocks noGrp="1"/>
          </p:cNvSpPr>
          <p:nvPr>
            <p:ph type="title"/>
          </p:nvPr>
        </p:nvSpPr>
        <p:spPr bwMode="auto"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9274596" name="Picture Placeholder 1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-1" y="0"/>
            <a:ext cx="12192000" cy="4635132"/>
          </a:xfrm>
          <a:prstGeom prst="rect">
            <a:avLst/>
          </a:prstGeom>
          <a:blipFill rotWithShape="1">
            <a:blip r:embed="rId2">
              <a:alphaModFix amt="70000"/>
            </a:blip>
            <a:stretch/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2132104490" name="Footer Placeholder 5"/>
          <p:cNvSpPr>
            <a:spLocks noGrp="1"/>
          </p:cNvSpPr>
          <p:nvPr>
            <p:ph type="ftr" sz="quarter" idx="15"/>
          </p:nvPr>
        </p:nvSpPr>
        <p:spPr bwMode="auto">
          <a:xfrm rot="16199999">
            <a:off x="-499001" y="5684309"/>
            <a:ext cx="1709209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8685037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41520025" name="Date Placeholder 4"/>
          <p:cNvSpPr>
            <a:spLocks noGrp="1"/>
          </p:cNvSpPr>
          <p:nvPr>
            <p:ph type="dt" sz="half" idx="10"/>
          </p:nvPr>
        </p:nvSpPr>
        <p:spPr bwMode="auto"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493799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52475553" name="Straight Connector 2"/>
          <p:cNvCxnSpPr/>
          <p:nvPr/>
        </p:nvCxnSpPr>
        <p:spPr bwMode="auto"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64585" name="Title 1"/>
          <p:cNvSpPr>
            <a:spLocks noGrp="1"/>
          </p:cNvSpPr>
          <p:nvPr>
            <p:ph type="title"/>
          </p:nvPr>
        </p:nvSpPr>
        <p:spPr bwMode="auto"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635024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4694644" name="Picture Placeholder 15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 fill="norm" stroke="1" extrusionOk="0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rotWithShape="1">
            <a:blip r:embed="rId2">
              <a:alphaModFix amt="81000"/>
            </a:blip>
            <a:stretch/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endParaRPr/>
          </a:p>
        </p:txBody>
      </p:sp>
      <p:sp>
        <p:nvSpPr>
          <p:cNvPr id="782897881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950783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1839138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907555564" name="Straight Connector 2"/>
          <p:cNvCxnSpPr/>
          <p:nvPr/>
        </p:nvCxnSpPr>
        <p:spPr bwMode="auto"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tent with Pictur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850407" name="Title 1"/>
          <p:cNvSpPr>
            <a:spLocks noGrp="1"/>
          </p:cNvSpPr>
          <p:nvPr>
            <p:ph type="title"/>
          </p:nvPr>
        </p:nvSpPr>
        <p:spPr bwMode="auto">
          <a:xfrm>
            <a:off x="718164" y="559341"/>
            <a:ext cx="10755670" cy="932688"/>
          </a:xfrm>
        </p:spPr>
        <p:txBody>
          <a:bodyPr anchor="b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06164352" name="Footer Placeholder 5"/>
          <p:cNvSpPr>
            <a:spLocks noGrp="1"/>
          </p:cNvSpPr>
          <p:nvPr>
            <p:ph type="ftr" sz="quarter" idx="16"/>
          </p:nvPr>
        </p:nvSpPr>
        <p:spPr bwMode="auto">
          <a:xfrm rot="16199999" flipH="1">
            <a:off x="-1131161" y="1592957"/>
            <a:ext cx="297352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1083909" name="Date Placeholder 4"/>
          <p:cNvSpPr>
            <a:spLocks noGrp="1"/>
          </p:cNvSpPr>
          <p:nvPr>
            <p:ph type="dt" sz="half" idx="15"/>
          </p:nvPr>
        </p:nvSpPr>
        <p:spPr bwMode="auto">
          <a:xfrm rot="16199999" flipH="1">
            <a:off x="-997745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443802582" name="Slide Number Placeholder 6"/>
          <p:cNvSpPr>
            <a:spLocks noGrp="1"/>
          </p:cNvSpPr>
          <p:nvPr>
            <p:ph type="sldNum" sz="quarter" idx="17"/>
          </p:nvPr>
        </p:nvSpPr>
        <p:spPr bwMode="auto"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sp>
        <p:nvSpPr>
          <p:cNvPr id="1026099319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1200" y="1713652"/>
            <a:ext cx="4387012" cy="461294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8536225" name="Picture Placeholder 11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 fill="norm" stroke="1" extrusionOk="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rotWithShape="1">
            <a:blip r:embed="rId2">
              <a:alphaModFix amt="70000"/>
            </a:blip>
            <a:stretch/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/>
              <a:buNone/>
              <a:defRPr lang="en-US"/>
            </a:lvl1pPr>
          </a:lstStyle>
          <a:p>
            <a:pPr marL="285750" lvl="0" indent="-285750">
              <a:defRPr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Number Lar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113115" name="Title 9"/>
          <p:cNvSpPr>
            <a:spLocks noGrp="1"/>
          </p:cNvSpPr>
          <p:nvPr>
            <p:ph type="title"/>
          </p:nvPr>
        </p:nvSpPr>
        <p:spPr bwMode="auto"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0612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6023175" name="Content Placeholder 8"/>
          <p:cNvSpPr>
            <a:spLocks noGrp="1"/>
          </p:cNvSpPr>
          <p:nvPr>
            <p:ph sz="quarter" idx="13" hasCustomPrompt="1"/>
          </p:nvPr>
        </p:nvSpPr>
        <p:spPr bwMode="auto"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>
              <a:defRPr/>
            </a:pPr>
            <a:r>
              <a:rPr lang="en-US"/>
              <a:t>##%</a:t>
            </a:r>
            <a:endParaRPr/>
          </a:p>
        </p:txBody>
      </p:sp>
      <p:sp>
        <p:nvSpPr>
          <p:cNvPr id="7987992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20459448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730792520" name="Straight Connector 6"/>
          <p:cNvCxnSpPr/>
          <p:nvPr/>
        </p:nvCxnSpPr>
        <p:spPr bwMode="auto"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Statem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4426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12648" y="-1228126"/>
            <a:ext cx="10652760" cy="1133856"/>
          </a:xfrm>
        </p:spPr>
        <p:txBody>
          <a:bodyPr/>
          <a:lstStyle>
            <a:lvl1pPr>
              <a:defRPr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7570885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6364561" name="Content Placeholder 6"/>
          <p:cNvSpPr>
            <a:spLocks noGrp="1"/>
          </p:cNvSpPr>
          <p:nvPr>
            <p:ph sz="quarter" idx="13" hasCustomPrompt="1"/>
          </p:nvPr>
        </p:nvSpPr>
        <p:spPr bwMode="auto"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add Statement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3178039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20303122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sp>
        <p:nvSpPr>
          <p:cNvPr id="1505669818" name="Freeform: Shape 15"/>
          <p:cNvSpPr/>
          <p:nvPr/>
        </p:nvSpPr>
        <p:spPr bwMode="auto">
          <a:xfrm rot="16199999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 fill="norm" stroke="1" extrusionOk="0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Quo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849701" name="Title 9"/>
          <p:cNvSpPr>
            <a:spLocks noGrp="1"/>
          </p:cNvSpPr>
          <p:nvPr>
            <p:ph type="title" hasCustomPrompt="1"/>
          </p:nvPr>
        </p:nvSpPr>
        <p:spPr bwMode="auto"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>
                <a:latin typeface="+mn-lt"/>
              </a:defRPr>
            </a:lvl1pPr>
          </a:lstStyle>
          <a:p>
            <a:pPr>
              <a:defRPr/>
            </a:pPr>
            <a:r>
              <a:rPr lang="en-US"/>
              <a:t>Quote Author</a:t>
            </a:r>
            <a:endParaRPr/>
          </a:p>
        </p:txBody>
      </p:sp>
      <p:sp>
        <p:nvSpPr>
          <p:cNvPr id="19176181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0128454" name="Content Placeholder 8"/>
          <p:cNvSpPr>
            <a:spLocks noGrp="1"/>
          </p:cNvSpPr>
          <p:nvPr>
            <p:ph sz="quarter" idx="13" hasCustomPrompt="1"/>
          </p:nvPr>
        </p:nvSpPr>
        <p:spPr bwMode="auto">
          <a:xfrm>
            <a:off x="2597134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>
                <a:latin typeface="+mn-lt"/>
              </a:defRPr>
            </a:lvl1pPr>
          </a:lstStyle>
          <a:p>
            <a:pPr lvl="0">
              <a:defRPr/>
            </a:pPr>
            <a:r>
              <a:rPr lang="en-US"/>
              <a:t>Click to add Quote</a:t>
            </a:r>
            <a:endParaRPr/>
          </a:p>
        </p:txBody>
      </p:sp>
      <p:sp>
        <p:nvSpPr>
          <p:cNvPr id="1366789541" name="Freeform: Shape 15"/>
          <p:cNvSpPr/>
          <p:nvPr/>
        </p:nvSpPr>
        <p:spPr bwMode="auto">
          <a:xfrm rot="16199999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 fill="norm" stroke="1" extrusionOk="0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75797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7429672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417827" name="Title 1"/>
          <p:cNvSpPr>
            <a:spLocks noGrp="1"/>
          </p:cNvSpPr>
          <p:nvPr>
            <p:ph type="title"/>
          </p:nvPr>
        </p:nvSpPr>
        <p:spPr bwMode="auto"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603611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0819115" name="Content Placeholder 3"/>
          <p:cNvSpPr>
            <a:spLocks noGrp="1"/>
          </p:cNvSpPr>
          <p:nvPr>
            <p:ph sz="quarter" idx="15"/>
          </p:nvPr>
        </p:nvSpPr>
        <p:spPr bwMode="auto">
          <a:xfrm>
            <a:off x="731838" y="2103438"/>
            <a:ext cx="5181600" cy="43513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8543151" name="Content Placeholder 3"/>
          <p:cNvSpPr>
            <a:spLocks noGrp="1"/>
          </p:cNvSpPr>
          <p:nvPr>
            <p:ph sz="quarter" idx="16"/>
          </p:nvPr>
        </p:nvSpPr>
        <p:spPr bwMode="auto">
          <a:xfrm>
            <a:off x="6284947" y="2103121"/>
            <a:ext cx="5181600" cy="435133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216051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5347059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90582" name="Title 1"/>
          <p:cNvSpPr>
            <a:spLocks noGrp="1"/>
          </p:cNvSpPr>
          <p:nvPr>
            <p:ph type="title"/>
          </p:nvPr>
        </p:nvSpPr>
        <p:spPr bwMode="auto"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63645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40708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7280049" name="Content Placeholder 3"/>
          <p:cNvSpPr>
            <a:spLocks noGrp="1"/>
          </p:cNvSpPr>
          <p:nvPr>
            <p:ph sz="quarter" idx="15"/>
          </p:nvPr>
        </p:nvSpPr>
        <p:spPr bwMode="auto">
          <a:xfrm>
            <a:off x="731838" y="2743200"/>
            <a:ext cx="5157187" cy="37639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678814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2435283" name="Content Placeholder 3"/>
          <p:cNvSpPr>
            <a:spLocks noGrp="1"/>
          </p:cNvSpPr>
          <p:nvPr>
            <p:ph sz="quarter" idx="16"/>
          </p:nvPr>
        </p:nvSpPr>
        <p:spPr bwMode="auto">
          <a:xfrm>
            <a:off x="6309361" y="2743200"/>
            <a:ext cx="5183188" cy="37639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191783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1355340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Only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009777" name="Title 1"/>
          <p:cNvSpPr>
            <a:spLocks noGrp="1"/>
          </p:cNvSpPr>
          <p:nvPr>
            <p:ph type="title"/>
          </p:nvPr>
        </p:nvSpPr>
        <p:spPr bwMode="auto"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5689525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863458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472301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Empt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9267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208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21192768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onclus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578701" name="Title 1"/>
          <p:cNvSpPr>
            <a:spLocks noGrp="1"/>
          </p:cNvSpPr>
          <p:nvPr>
            <p:ph type="title"/>
          </p:nvPr>
        </p:nvSpPr>
        <p:spPr bwMode="auto">
          <a:xfrm>
            <a:off x="841248" y="457200"/>
            <a:ext cx="7342307" cy="1133856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53747901" name="Footer Placeholder 4"/>
          <p:cNvSpPr>
            <a:spLocks noGrp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6497517" name="Content Placeholder 7"/>
          <p:cNvSpPr>
            <a:spLocks noGrp="1"/>
          </p:cNvSpPr>
          <p:nvPr>
            <p:ph sz="quarter" idx="13"/>
          </p:nvPr>
        </p:nvSpPr>
        <p:spPr bwMode="auto">
          <a:xfrm>
            <a:off x="841248" y="2624328"/>
            <a:ext cx="10424160" cy="32004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59292180" name="Date Placeholder 3"/>
          <p:cNvSpPr>
            <a:spLocks noGrp="1"/>
          </p:cNvSpPr>
          <p:nvPr>
            <p:ph type="dt" sz="half" idx="10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958741125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clus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346239" name="Title 6"/>
          <p:cNvSpPr>
            <a:spLocks noGrp="1"/>
          </p:cNvSpPr>
          <p:nvPr>
            <p:ph type="title"/>
          </p:nvPr>
        </p:nvSpPr>
        <p:spPr bwMode="auto">
          <a:xfrm>
            <a:off x="731520" y="365760"/>
            <a:ext cx="10741152" cy="1132258"/>
          </a:xfrm>
        </p:spPr>
        <p:txBody>
          <a:bodyPr/>
          <a:lstStyle>
            <a:lvl1pPr>
              <a:defRPr lang="en-US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111821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5688857" name="Content Placeholder 7"/>
          <p:cNvSpPr>
            <a:spLocks noGrp="1"/>
          </p:cNvSpPr>
          <p:nvPr>
            <p:ph sz="quarter" idx="13"/>
          </p:nvPr>
        </p:nvSpPr>
        <p:spPr bwMode="auto">
          <a:xfrm>
            <a:off x="731520" y="2301836"/>
            <a:ext cx="10741150" cy="392116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67172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20478168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3778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34396444" name="Footer Placeholder 4"/>
          <p:cNvSpPr>
            <a:spLocks noGrp="1"/>
          </p:cNvSpPr>
          <p:nvPr>
            <p:ph type="ftr" sz="quarter" idx="3"/>
          </p:nvPr>
        </p:nvSpPr>
        <p:spPr bwMode="auto">
          <a:xfrm rot="16199999" flipH="1">
            <a:off x="-1131161" y="1592957"/>
            <a:ext cx="29735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87747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2061469"/>
            <a:ext cx="10515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17120942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10/1/2026</a:t>
            </a:fld>
            <a:endParaRPr lang="en-US"/>
          </a:p>
        </p:txBody>
      </p:sp>
      <p:sp>
        <p:nvSpPr>
          <p:cNvPr id="91530942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080335825" name="Straight Connector 12"/>
          <p:cNvCxnSpPr/>
          <p:nvPr/>
        </p:nvCxnSpPr>
        <p:spPr bwMode="auto"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10000"/>
        </a:lnSpc>
        <a:spcBef>
          <a:spcPts val="1000"/>
        </a:spcBef>
        <a:buSzPct val="80000"/>
        <a:buFont typeface="Arial"/>
        <a:buNone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>
        <a:lnSpc>
          <a:spcPct val="110000"/>
        </a:lnSpc>
        <a:spcBef>
          <a:spcPts val="500"/>
        </a:spcBef>
        <a:buSzPct val="80000"/>
        <a:buFont typeface="Goudy Old Style"/>
        <a:buChar char="–"/>
        <a:defRPr sz="1600" i="1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>
        <a:lnSpc>
          <a:spcPct val="110000"/>
        </a:lnSpc>
        <a:spcBef>
          <a:spcPts val="500"/>
        </a:spcBef>
        <a:buSzPct val="80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>
        <a:lnSpc>
          <a:spcPct val="110000"/>
        </a:lnSpc>
        <a:spcBef>
          <a:spcPts val="500"/>
        </a:spcBef>
        <a:buSzPct val="80000"/>
        <a:buFont typeface="Goudy Old Style"/>
        <a:buChar char="–"/>
        <a:defRPr sz="1400" i="1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>
        <a:lnSpc>
          <a:spcPct val="110000"/>
        </a:lnSpc>
        <a:spcBef>
          <a:spcPts val="500"/>
        </a:spcBef>
        <a:buSzPct val="80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go.microsoft.com/fwlink/p/?LinkId=255141" TargetMode="External"/><Relationship Id="rId4" Type="http://schemas.openxmlformats.org/officeDocument/2006/relationships/hyperlink" Target="https://www.linkedin.com/pulse/online-voting-systems-how-work-security-challenges-road-krishna-wsgpf/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51186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990487" name="Oval 2"/>
          <p:cNvSpPr/>
          <p:nvPr/>
        </p:nvSpPr>
        <p:spPr bwMode="auto">
          <a:xfrm>
            <a:off x="8915400" y="640080"/>
            <a:ext cx="2468880" cy="2468880"/>
          </a:xfrm>
          <a:prstGeom prst="ellipse">
            <a:avLst/>
          </a:prstGeom>
          <a:noFill/>
          <a:ln w="63500">
            <a:solidFill>
              <a:srgbClr val="E4D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3332521" name="Oval 3"/>
          <p:cNvSpPr/>
          <p:nvPr/>
        </p:nvSpPr>
        <p:spPr bwMode="auto">
          <a:xfrm>
            <a:off x="685800" y="685800"/>
            <a:ext cx="822960" cy="822960"/>
          </a:xfrm>
          <a:prstGeom prst="ellipse">
            <a:avLst/>
          </a:prstGeom>
          <a:solidFill>
            <a:srgbClr val="182548"/>
          </a:solidFill>
          <a:ln w="25400">
            <a:solidFill>
              <a:srgbClr val="B08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B08D4F"/>
                </a:solidFill>
                <a:latin typeface="Aptos Display"/>
              </a:defRPr>
            </a:pPr>
            <a:r>
              <a:rPr/>
              <a:t>CB</a:t>
            </a:r>
            <a:endParaRPr/>
          </a:p>
        </p:txBody>
      </p:sp>
      <p:sp>
        <p:nvSpPr>
          <p:cNvPr id="197032325" name="TextBox 4"/>
          <p:cNvSpPr txBox="1"/>
          <p:nvPr/>
        </p:nvSpPr>
        <p:spPr bwMode="auto">
          <a:xfrm>
            <a:off x="731520" y="1828800"/>
            <a:ext cx="8046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82548"/>
                </a:solidFill>
                <a:latin typeface="Aptos Display"/>
              </a:defRPr>
            </a:pPr>
            <a:r>
              <a:rPr/>
              <a:t>Civic Ballot</a:t>
            </a:r>
            <a:endParaRPr/>
          </a:p>
          <a:p>
            <a:pPr>
              <a:defRPr sz="2700">
                <a:solidFill>
                  <a:srgbClr val="A5303A"/>
                </a:solidFill>
                <a:latin typeface="Aptos"/>
              </a:defRPr>
            </a:pPr>
            <a:r>
              <a:rPr/>
              <a:t>Secure Online Voting System</a:t>
            </a:r>
            <a:endParaRPr/>
          </a:p>
          <a:p>
            <a:pPr>
              <a:defRPr sz="1700">
                <a:solidFill>
                  <a:srgbClr val="5B6478"/>
                </a:solidFill>
                <a:latin typeface="Aptos"/>
              </a:defRPr>
            </a:pPr>
            <a:r>
              <a:rPr/>
              <a:t>Project Explanation – Simple English</a:t>
            </a:r>
            <a:endParaRPr/>
          </a:p>
        </p:txBody>
      </p:sp>
      <p:sp>
        <p:nvSpPr>
          <p:cNvPr id="1409197248" name="Rounded Rectangle 5"/>
          <p:cNvSpPr/>
          <p:nvPr/>
        </p:nvSpPr>
        <p:spPr bwMode="auto">
          <a:xfrm>
            <a:off x="731520" y="3886200"/>
            <a:ext cx="333756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1973551" name="Rectangle 6"/>
          <p:cNvSpPr/>
          <p:nvPr/>
        </p:nvSpPr>
        <p:spPr bwMode="auto">
          <a:xfrm>
            <a:off x="731520" y="3886200"/>
            <a:ext cx="73152" cy="141732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5612454" name="TextBox 7"/>
          <p:cNvSpPr txBox="1"/>
          <p:nvPr/>
        </p:nvSpPr>
        <p:spPr bwMode="auto">
          <a:xfrm>
            <a:off x="93268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Main idea</a:t>
            </a:r>
            <a:endParaRPr/>
          </a:p>
        </p:txBody>
      </p:sp>
      <p:sp>
        <p:nvSpPr>
          <p:cNvPr id="637461827" name="TextBox 8"/>
          <p:cNvSpPr txBox="1"/>
          <p:nvPr/>
        </p:nvSpPr>
        <p:spPr bwMode="auto">
          <a:xfrm>
            <a:off x="899161" y="4352543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A web-based voting demo where voters can log in, choose a candidate, submit a ballot, and receive a receipt.</a:t>
            </a:r>
            <a:endParaRPr/>
          </a:p>
        </p:txBody>
      </p:sp>
      <p:sp>
        <p:nvSpPr>
          <p:cNvPr id="1410971912" name="Rounded Rectangle 9"/>
          <p:cNvSpPr/>
          <p:nvPr/>
        </p:nvSpPr>
        <p:spPr bwMode="auto">
          <a:xfrm>
            <a:off x="4343400" y="3886200"/>
            <a:ext cx="333756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821734" name="Rectangle 10"/>
          <p:cNvSpPr/>
          <p:nvPr/>
        </p:nvSpPr>
        <p:spPr bwMode="auto">
          <a:xfrm>
            <a:off x="4343400" y="3886200"/>
            <a:ext cx="73152" cy="14173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1082158" name="TextBox 11"/>
          <p:cNvSpPr txBox="1"/>
          <p:nvPr/>
        </p:nvSpPr>
        <p:spPr bwMode="auto">
          <a:xfrm>
            <a:off x="454456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Two users</a:t>
            </a:r>
            <a:endParaRPr/>
          </a:p>
        </p:txBody>
      </p:sp>
      <p:sp>
        <p:nvSpPr>
          <p:cNvPr id="684846934" name="TextBox 12"/>
          <p:cNvSpPr txBox="1"/>
          <p:nvPr/>
        </p:nvSpPr>
        <p:spPr bwMode="auto">
          <a:xfrm>
            <a:off x="4535424" y="43936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Voter: casts a vote and checks results. Admin: manages the election, voters, candidates, results, and audit trail.</a:t>
            </a:r>
            <a:endParaRPr/>
          </a:p>
        </p:txBody>
      </p:sp>
      <p:sp>
        <p:nvSpPr>
          <p:cNvPr id="486787220" name="Rounded Rectangle 13"/>
          <p:cNvSpPr/>
          <p:nvPr/>
        </p:nvSpPr>
        <p:spPr bwMode="auto">
          <a:xfrm>
            <a:off x="7955279" y="3886200"/>
            <a:ext cx="333756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1661097" name="Rectangle 14"/>
          <p:cNvSpPr/>
          <p:nvPr/>
        </p:nvSpPr>
        <p:spPr bwMode="auto">
          <a:xfrm>
            <a:off x="7955279" y="388620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6331551" name="TextBox 15"/>
          <p:cNvSpPr txBox="1"/>
          <p:nvPr/>
        </p:nvSpPr>
        <p:spPr bwMode="auto">
          <a:xfrm>
            <a:off x="815644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Security idea</a:t>
            </a:r>
            <a:endParaRPr/>
          </a:p>
        </p:txBody>
      </p:sp>
      <p:sp>
        <p:nvSpPr>
          <p:cNvPr id="953887936" name="TextBox 16"/>
          <p:cNvSpPr txBox="1"/>
          <p:nvPr/>
        </p:nvSpPr>
        <p:spPr bwMode="auto">
          <a:xfrm>
            <a:off x="8156448" y="45079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The demo uses SHA-256 hashes and chained audit records to show vote integrity and tamper evidence.</a:t>
            </a:r>
            <a:endParaRPr/>
          </a:p>
        </p:txBody>
      </p:sp>
      <p:sp>
        <p:nvSpPr>
          <p:cNvPr id="290931638" name="TextBox 17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1</a:t>
            </a:r>
            <a:endParaRPr/>
          </a:p>
        </p:txBody>
      </p:sp>
      <p:sp>
        <p:nvSpPr>
          <p:cNvPr id="486144335" name="TextBox 18"/>
          <p:cNvSpPr txBox="1"/>
          <p:nvPr/>
        </p:nvSpPr>
        <p:spPr bwMode="auto">
          <a:xfrm>
            <a:off x="768096" y="5468111"/>
            <a:ext cx="8552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latin typeface="Aptos"/>
              </a:rPr>
              <a:t>Goutham         --          2500030402</a:t>
            </a:r>
            <a:endParaRPr/>
          </a:p>
          <a:p>
            <a:pPr>
              <a:defRPr/>
            </a:pPr>
            <a:r>
              <a:rPr lang="en-US">
                <a:latin typeface="Aptos"/>
              </a:rPr>
              <a:t> Irfan                  --           2500030913</a:t>
            </a:r>
            <a:endParaRPr/>
          </a:p>
          <a:p>
            <a:pPr>
              <a:defRPr/>
            </a:pPr>
            <a:r>
              <a:rPr lang="en-US">
                <a:latin typeface="Aptos"/>
              </a:rPr>
              <a:t>Chaithanya    --           2500031199</a:t>
            </a:r>
            <a:endParaRPr lang="en-IN">
              <a:latin typeface="Aptos"/>
            </a:endParaRPr>
          </a:p>
        </p:txBody>
      </p:sp>
      <p:pic>
        <p:nvPicPr>
          <p:cNvPr id="1976676243" name="Picture 2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78240" y="560071"/>
            <a:ext cx="2992755" cy="276605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412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825756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8681495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443023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1. Project Overview</a:t>
            </a:r>
            <a:endParaRPr/>
          </a:p>
        </p:txBody>
      </p:sp>
      <p:sp>
        <p:nvSpPr>
          <p:cNvPr id="993158632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What is Civic Ballot?</a:t>
            </a:r>
            <a:endParaRPr/>
          </a:p>
        </p:txBody>
      </p:sp>
      <p:sp>
        <p:nvSpPr>
          <p:cNvPr id="481889145" name="TextBox 6"/>
          <p:cNvSpPr txBox="1"/>
          <p:nvPr/>
        </p:nvSpPr>
        <p:spPr bwMode="auto">
          <a:xfrm>
            <a:off x="73152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rPr/>
              <a:t>Civic Ballot is a secure online voting demonstration.</a:t>
            </a:r>
            <a:endParaRPr/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rPr/>
              <a:t>It provides separate login areas for voters and administrators.</a:t>
            </a:r>
            <a:endParaRPr/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rPr/>
              <a:t>Voters can select one candidate and submit a ballot.</a:t>
            </a:r>
            <a:endParaRPr/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rPr/>
              <a:t>After voting, the system creates a receipt with a SHA-256 hash.</a:t>
            </a:r>
            <a:endParaRPr/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rPr/>
              <a:t>Administrators can manage the election and view the audit trail.</a:t>
            </a:r>
            <a:endParaRPr/>
          </a:p>
        </p:txBody>
      </p:sp>
      <p:sp>
        <p:nvSpPr>
          <p:cNvPr id="532207541" name="Rounded Rectangle 7"/>
          <p:cNvSpPr/>
          <p:nvPr/>
        </p:nvSpPr>
        <p:spPr bwMode="auto">
          <a:xfrm>
            <a:off x="7589520" y="1325880"/>
            <a:ext cx="3840480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39019" name="Rectangle 8"/>
          <p:cNvSpPr/>
          <p:nvPr/>
        </p:nvSpPr>
        <p:spPr bwMode="auto">
          <a:xfrm>
            <a:off x="7589520" y="1325880"/>
            <a:ext cx="73152" cy="13258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5152924" name="TextBox 9"/>
          <p:cNvSpPr txBox="1"/>
          <p:nvPr/>
        </p:nvSpPr>
        <p:spPr bwMode="auto">
          <a:xfrm>
            <a:off x="7790687" y="149047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Election</a:t>
            </a:r>
            <a:endParaRPr/>
          </a:p>
        </p:txBody>
      </p:sp>
      <p:sp>
        <p:nvSpPr>
          <p:cNvPr id="1098301591" name="TextBox 10"/>
          <p:cNvSpPr txBox="1"/>
          <p:nvPr/>
        </p:nvSpPr>
        <p:spPr bwMode="auto">
          <a:xfrm>
            <a:off x="7790687" y="1947671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The default election is “2026 General Election” and can be changed by the admin.</a:t>
            </a:r>
            <a:endParaRPr/>
          </a:p>
        </p:txBody>
      </p:sp>
      <p:sp>
        <p:nvSpPr>
          <p:cNvPr id="1011678086" name="Rounded Rectangle 11"/>
          <p:cNvSpPr/>
          <p:nvPr/>
        </p:nvSpPr>
        <p:spPr bwMode="auto">
          <a:xfrm>
            <a:off x="7589520" y="2880360"/>
            <a:ext cx="3840480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9777890" name="Rectangle 12"/>
          <p:cNvSpPr/>
          <p:nvPr/>
        </p:nvSpPr>
        <p:spPr bwMode="auto">
          <a:xfrm>
            <a:off x="7589520" y="2880360"/>
            <a:ext cx="73152" cy="13258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8686362" name="TextBox 13"/>
          <p:cNvSpPr txBox="1"/>
          <p:nvPr/>
        </p:nvSpPr>
        <p:spPr bwMode="auto">
          <a:xfrm>
            <a:off x="7790687" y="304495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Candidates</a:t>
            </a:r>
            <a:endParaRPr/>
          </a:p>
        </p:txBody>
      </p:sp>
      <p:sp>
        <p:nvSpPr>
          <p:cNvPr id="750424739" name="TextBox 14"/>
          <p:cNvSpPr txBox="1"/>
          <p:nvPr/>
        </p:nvSpPr>
        <p:spPr bwMode="auto">
          <a:xfrm>
            <a:off x="7790687" y="3502152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The demo starts with three candidates and allows the admin to add more.</a:t>
            </a:r>
            <a:endParaRPr/>
          </a:p>
        </p:txBody>
      </p:sp>
      <p:sp>
        <p:nvSpPr>
          <p:cNvPr id="1344856301" name="Rounded Rectangle 15"/>
          <p:cNvSpPr/>
          <p:nvPr/>
        </p:nvSpPr>
        <p:spPr bwMode="auto">
          <a:xfrm>
            <a:off x="7589520" y="4434840"/>
            <a:ext cx="3840480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3033309" name="Rectangle 16"/>
          <p:cNvSpPr/>
          <p:nvPr/>
        </p:nvSpPr>
        <p:spPr bwMode="auto">
          <a:xfrm>
            <a:off x="7589520" y="4434840"/>
            <a:ext cx="73152" cy="132588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8376429" name="TextBox 17"/>
          <p:cNvSpPr txBox="1"/>
          <p:nvPr/>
        </p:nvSpPr>
        <p:spPr bwMode="auto">
          <a:xfrm>
            <a:off x="7790687" y="4599431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rPr/>
              <a:t>Results</a:t>
            </a:r>
            <a:endParaRPr/>
          </a:p>
        </p:txBody>
      </p:sp>
      <p:sp>
        <p:nvSpPr>
          <p:cNvPr id="816624978" name="TextBox 18"/>
          <p:cNvSpPr txBox="1"/>
          <p:nvPr/>
        </p:nvSpPr>
        <p:spPr bwMode="auto">
          <a:xfrm>
            <a:off x="7790687" y="5056631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/>
              <a:t>Vote counts and turnout are calculated from submitted ballots.</a:t>
            </a:r>
            <a:endParaRPr/>
          </a:p>
        </p:txBody>
      </p:sp>
      <p:sp>
        <p:nvSpPr>
          <p:cNvPr id="960475696" name="TextBox 19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0180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238375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577978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621869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2. Problem and Objectives</a:t>
            </a:r>
            <a:endParaRPr/>
          </a:p>
        </p:txBody>
      </p:sp>
      <p:sp>
        <p:nvSpPr>
          <p:cNvPr id="105251957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Why this project?</a:t>
            </a:r>
            <a:endParaRPr/>
          </a:p>
        </p:txBody>
      </p:sp>
      <p:sp>
        <p:nvSpPr>
          <p:cNvPr id="1001974325" name="Rounded Rectangle 6"/>
          <p:cNvSpPr/>
          <p:nvPr/>
        </p:nvSpPr>
        <p:spPr bwMode="auto">
          <a:xfrm>
            <a:off x="685800" y="1143000"/>
            <a:ext cx="5303520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065562" name="Rectangle 7"/>
          <p:cNvSpPr/>
          <p:nvPr/>
        </p:nvSpPr>
        <p:spPr bwMode="auto">
          <a:xfrm>
            <a:off x="685800" y="1143000"/>
            <a:ext cx="73152" cy="45262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053563" name="TextBox 8"/>
          <p:cNvSpPr txBox="1"/>
          <p:nvPr/>
        </p:nvSpPr>
        <p:spPr bwMode="auto">
          <a:xfrm>
            <a:off x="886968" y="1307592"/>
            <a:ext cx="491947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Problem</a:t>
            </a:r>
            <a:endParaRPr/>
          </a:p>
        </p:txBody>
      </p:sp>
      <p:sp>
        <p:nvSpPr>
          <p:cNvPr id="1478489360" name="TextBox 9"/>
          <p:cNvSpPr txBox="1"/>
          <p:nvPr/>
        </p:nvSpPr>
        <p:spPr bwMode="auto">
          <a:xfrm>
            <a:off x="886968" y="1764792"/>
            <a:ext cx="4919471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rPr/>
              <a:t>Traditional voting can require physical polling places, manual counting, and paper records. An online system needs strong identity checks, vote integrity, clear results, and an audit history.</a:t>
            </a:r>
            <a:endParaRPr/>
          </a:p>
        </p:txBody>
      </p:sp>
      <p:sp>
        <p:nvSpPr>
          <p:cNvPr id="1284453768" name="Rounded Rectangle 10"/>
          <p:cNvSpPr/>
          <p:nvPr/>
        </p:nvSpPr>
        <p:spPr bwMode="auto">
          <a:xfrm>
            <a:off x="6217920" y="1143000"/>
            <a:ext cx="5303520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527187" name="Rectangle 11"/>
          <p:cNvSpPr/>
          <p:nvPr/>
        </p:nvSpPr>
        <p:spPr bwMode="auto">
          <a:xfrm>
            <a:off x="6217920" y="1143000"/>
            <a:ext cx="73152" cy="45262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8779409" name="TextBox 12"/>
          <p:cNvSpPr txBox="1"/>
          <p:nvPr/>
        </p:nvSpPr>
        <p:spPr bwMode="auto">
          <a:xfrm>
            <a:off x="6419088" y="1307592"/>
            <a:ext cx="491947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Objectives</a:t>
            </a:r>
            <a:endParaRPr/>
          </a:p>
        </p:txBody>
      </p:sp>
      <p:sp>
        <p:nvSpPr>
          <p:cNvPr id="131585571" name="TextBox 13"/>
          <p:cNvSpPr txBox="1"/>
          <p:nvPr/>
        </p:nvSpPr>
        <p:spPr bwMode="auto">
          <a:xfrm>
            <a:off x="6419088" y="1764792"/>
            <a:ext cx="4919471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• Provide easy voter login</a:t>
            </a:r>
            <a:br>
              <a:rPr/>
            </a:br>
            <a:r>
              <a:rPr/>
              <a:t>• Allow one ballot per registered voter</a:t>
            </a:r>
            <a:br>
              <a:rPr/>
            </a:br>
            <a:r>
              <a:rPr/>
              <a:t>• Record votes and show live tally</a:t>
            </a:r>
            <a:br>
              <a:rPr/>
            </a:br>
            <a:r>
              <a:rPr/>
              <a:t>• Give the voter a verification receipt</a:t>
            </a:r>
            <a:br>
              <a:rPr/>
            </a:br>
            <a:r>
              <a:rPr/>
              <a:t>• Keep an audit trail using chained SHA-256 hashes</a:t>
            </a:r>
            <a:br>
              <a:rPr/>
            </a:br>
            <a:r>
              <a:rPr/>
              <a:t>• Give administrators control over the election</a:t>
            </a:r>
            <a:endParaRPr/>
          </a:p>
        </p:txBody>
      </p:sp>
      <p:sp>
        <p:nvSpPr>
          <p:cNvPr id="1374637744" name="TextBox 14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372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3. Existing Online Voting Platforms</a:t>
            </a:r>
            <a:endParaRPr/>
          </a:p>
        </p:txBody>
      </p:sp>
      <p:sp>
        <p:nvSpPr>
          <p:cNvPr id="2860905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ElectionBuddy – Secure online elections with email/SMS notifications and different voting options.</a:t>
            </a:r>
            <a:endParaRPr/>
          </a:p>
          <a:p>
            <a:pPr>
              <a:defRPr sz="2000"/>
            </a:pPr>
            <a:r>
              <a:rPr/>
              <a:t>Simply Voting – Hosted online voting used by organizations such as universities and municipalities.</a:t>
            </a:r>
            <a:endParaRPr/>
          </a:p>
          <a:p>
            <a:pPr>
              <a:defRPr sz="2000"/>
            </a:pPr>
            <a:r>
              <a:rPr/>
              <a:t>Polyas – Uses encryption and mathematical methods to help make online voting secure.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551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4. What Civic Ballot Solves</a:t>
            </a:r>
            <a:endParaRPr/>
          </a:p>
        </p:txBody>
      </p:sp>
      <p:sp>
        <p:nvSpPr>
          <p:cNvPr id="4152163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Prevents Unauthorized Voting – Only admin-approved email addresses can register, with a 6-digit OTP for verification.</a:t>
            </a:r>
            <a:endParaRPr/>
          </a:p>
          <a:p>
            <a:pPr>
              <a:defRPr sz="2000"/>
            </a:pPr>
            <a:r>
              <a:rPr/>
              <a:t>Makes Voting More Transparent – A SHA-256 hash receipt helps the voter verify that the ballot was recorded.</a:t>
            </a:r>
            <a:endParaRPr/>
          </a:p>
          <a:p>
            <a:pPr>
              <a:defRPr sz="2000"/>
            </a:pPr>
            <a:r>
              <a:rPr/>
              <a:t>Prevents Admin Misuse – Important admin actions are recorded using a chained hash audit trail.</a:t>
            </a:r>
            <a:endParaRPr/>
          </a:p>
          <a:p>
            <a:pPr>
              <a:defRPr sz="2000"/>
            </a:pPr>
            <a:r>
              <a:rPr/>
              <a:t>Makes Voting Convenient – Users can vote remotely from a phone, laptop, or other device. Vote changes can be allowed before the election closes.</a:t>
            </a:r>
            <a:endParaRPr/>
          </a:p>
          <a:p>
            <a:pPr>
              <a:defRPr sz="2000"/>
            </a:pPr>
            <a:r>
              <a:rPr/>
              <a:t>Reduces Counting Errors – Votes are counted automatically, saving time and reducing manual counting errors.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20560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0867152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9753236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278381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3. System Users and Modules</a:t>
            </a:r>
            <a:endParaRPr/>
          </a:p>
        </p:txBody>
      </p:sp>
      <p:sp>
        <p:nvSpPr>
          <p:cNvPr id="1857464748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Who uses the system?</a:t>
            </a:r>
            <a:endParaRPr/>
          </a:p>
        </p:txBody>
      </p:sp>
      <p:sp>
        <p:nvSpPr>
          <p:cNvPr id="1277758951" name="Rounded Rectangle 6"/>
          <p:cNvSpPr/>
          <p:nvPr/>
        </p:nvSpPr>
        <p:spPr bwMode="auto">
          <a:xfrm>
            <a:off x="640080" y="1143000"/>
            <a:ext cx="53949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777578" name="Rectangle 7"/>
          <p:cNvSpPr/>
          <p:nvPr/>
        </p:nvSpPr>
        <p:spPr bwMode="auto">
          <a:xfrm>
            <a:off x="640080" y="114300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037955" name="TextBox 8"/>
          <p:cNvSpPr txBox="1"/>
          <p:nvPr/>
        </p:nvSpPr>
        <p:spPr bwMode="auto">
          <a:xfrm>
            <a:off x="841247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Voter Module</a:t>
            </a:r>
            <a:endParaRPr/>
          </a:p>
        </p:txBody>
      </p:sp>
      <p:sp>
        <p:nvSpPr>
          <p:cNvPr id="301849900" name="TextBox 9"/>
          <p:cNvSpPr txBox="1"/>
          <p:nvPr/>
        </p:nvSpPr>
        <p:spPr bwMode="auto">
          <a:xfrm>
            <a:off x="841247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rPr/>
              <a:t>1. Voter login</a:t>
            </a:r>
            <a:br>
              <a:rPr/>
            </a:br>
            <a:r>
              <a:rPr/>
              <a:t>2. View official ballot</a:t>
            </a:r>
            <a:br>
              <a:rPr/>
            </a:br>
            <a:r>
              <a:rPr/>
              <a:t>3. Select a candidate</a:t>
            </a:r>
            <a:br>
              <a:rPr/>
            </a:br>
            <a:r>
              <a:rPr/>
              <a:t>4. Seal and submit vote</a:t>
            </a:r>
            <a:br>
              <a:rPr/>
            </a:br>
            <a:r>
              <a:rPr/>
              <a:t>5. View voting receipt</a:t>
            </a:r>
            <a:br>
              <a:rPr/>
            </a:br>
            <a:r>
              <a:rPr/>
              <a:t>6. View live results</a:t>
            </a:r>
            <a:endParaRPr/>
          </a:p>
        </p:txBody>
      </p:sp>
      <p:sp>
        <p:nvSpPr>
          <p:cNvPr id="1813265716" name="Rounded Rectangle 10"/>
          <p:cNvSpPr/>
          <p:nvPr/>
        </p:nvSpPr>
        <p:spPr bwMode="auto">
          <a:xfrm>
            <a:off x="6172200" y="1143000"/>
            <a:ext cx="53949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5387343" name="Rectangle 11"/>
          <p:cNvSpPr/>
          <p:nvPr/>
        </p:nvSpPr>
        <p:spPr bwMode="auto">
          <a:xfrm>
            <a:off x="6172200" y="114300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0376985" name="TextBox 12"/>
          <p:cNvSpPr txBox="1"/>
          <p:nvPr/>
        </p:nvSpPr>
        <p:spPr bwMode="auto">
          <a:xfrm>
            <a:off x="6373368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Admin Module</a:t>
            </a:r>
            <a:endParaRPr/>
          </a:p>
        </p:txBody>
      </p:sp>
      <p:sp>
        <p:nvSpPr>
          <p:cNvPr id="1027081425" name="TextBox 13"/>
          <p:cNvSpPr txBox="1"/>
          <p:nvPr/>
        </p:nvSpPr>
        <p:spPr bwMode="auto">
          <a:xfrm>
            <a:off x="6373368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rPr/>
              <a:t>1. Admin login</a:t>
            </a:r>
            <a:br>
              <a:rPr/>
            </a:br>
            <a:r>
              <a:rPr/>
              <a:t>2. Election setup and schedule</a:t>
            </a:r>
            <a:br>
              <a:rPr/>
            </a:br>
            <a:r>
              <a:rPr/>
              <a:t>3. Add candidates</a:t>
            </a:r>
            <a:br>
              <a:rPr/>
            </a:br>
            <a:r>
              <a:rPr/>
              <a:t>4. Register voters</a:t>
            </a:r>
            <a:br>
              <a:rPr/>
            </a:br>
            <a:r>
              <a:rPr/>
              <a:t>5. View results and turnout</a:t>
            </a:r>
            <a:br>
              <a:rPr/>
            </a:br>
            <a:r>
              <a:rPr/>
              <a:t>6. Announce results</a:t>
            </a:r>
            <a:br>
              <a:rPr/>
            </a:br>
            <a:r>
              <a:rPr/>
              <a:t>7. View audit trail</a:t>
            </a:r>
            <a:endParaRPr/>
          </a:p>
        </p:txBody>
      </p:sp>
      <p:sp>
        <p:nvSpPr>
          <p:cNvPr id="663984441" name="TextBox 14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53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31952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3168241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4458249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4. How the System Works</a:t>
            </a:r>
            <a:endParaRPr/>
          </a:p>
        </p:txBody>
      </p:sp>
      <p:sp>
        <p:nvSpPr>
          <p:cNvPr id="236285257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Main voting flow</a:t>
            </a:r>
            <a:endParaRPr/>
          </a:p>
        </p:txBody>
      </p:sp>
      <p:sp>
        <p:nvSpPr>
          <p:cNvPr id="1376858454" name="Oval 6"/>
          <p:cNvSpPr/>
          <p:nvPr/>
        </p:nvSpPr>
        <p:spPr bwMode="auto">
          <a:xfrm>
            <a:off x="713232" y="1685887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1</a:t>
            </a:r>
            <a:endParaRPr/>
          </a:p>
        </p:txBody>
      </p:sp>
      <p:sp>
        <p:nvSpPr>
          <p:cNvPr id="1438870294" name="TextBox 7"/>
          <p:cNvSpPr txBox="1"/>
          <p:nvPr/>
        </p:nvSpPr>
        <p:spPr bwMode="auto">
          <a:xfrm>
            <a:off x="1216151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rPr/>
              <a:t>Login</a:t>
            </a:r>
            <a:endParaRPr/>
          </a:p>
        </p:txBody>
      </p:sp>
      <p:sp>
        <p:nvSpPr>
          <p:cNvPr id="471287564" name="TextBox 8"/>
          <p:cNvSpPr txBox="1"/>
          <p:nvPr/>
        </p:nvSpPr>
        <p:spPr bwMode="auto">
          <a:xfrm>
            <a:off x="678131" y="227685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/>
              <a:t>Voter enters Voter ID and password.</a:t>
            </a:r>
            <a:endParaRPr/>
          </a:p>
        </p:txBody>
      </p:sp>
      <p:cxnSp>
        <p:nvCxnSpPr>
          <p:cNvPr id="465471074" name="Connector 9"/>
          <p:cNvCxnSpPr/>
          <p:nvPr/>
        </p:nvCxnSpPr>
        <p:spPr bwMode="auto">
          <a:xfrm>
            <a:off x="237744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1511910" name="Oval 10"/>
          <p:cNvSpPr/>
          <p:nvPr/>
        </p:nvSpPr>
        <p:spPr bwMode="auto">
          <a:xfrm>
            <a:off x="2377440" y="1645920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2</a:t>
            </a:r>
            <a:endParaRPr/>
          </a:p>
        </p:txBody>
      </p:sp>
      <p:sp>
        <p:nvSpPr>
          <p:cNvPr id="184656158" name="TextBox 11"/>
          <p:cNvSpPr txBox="1"/>
          <p:nvPr/>
        </p:nvSpPr>
        <p:spPr bwMode="auto">
          <a:xfrm>
            <a:off x="341071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rPr/>
              <a:t>Open ballot</a:t>
            </a:r>
            <a:endParaRPr/>
          </a:p>
        </p:txBody>
      </p:sp>
      <p:sp>
        <p:nvSpPr>
          <p:cNvPr id="2080678671" name="TextBox 12"/>
          <p:cNvSpPr txBox="1"/>
          <p:nvPr/>
        </p:nvSpPr>
        <p:spPr bwMode="auto">
          <a:xfrm>
            <a:off x="3097064" y="227744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/>
              <a:t>System checks that polls are open and voter has not voted.</a:t>
            </a:r>
            <a:endParaRPr/>
          </a:p>
        </p:txBody>
      </p:sp>
      <p:cxnSp>
        <p:nvCxnSpPr>
          <p:cNvPr id="1397650417" name="Connector 13"/>
          <p:cNvCxnSpPr/>
          <p:nvPr/>
        </p:nvCxnSpPr>
        <p:spPr bwMode="auto">
          <a:xfrm>
            <a:off x="457200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3387698" name="Oval 14"/>
          <p:cNvSpPr/>
          <p:nvPr/>
        </p:nvSpPr>
        <p:spPr bwMode="auto">
          <a:xfrm>
            <a:off x="4777739" y="1719071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3</a:t>
            </a:r>
            <a:endParaRPr/>
          </a:p>
        </p:txBody>
      </p:sp>
      <p:sp>
        <p:nvSpPr>
          <p:cNvPr id="312288964" name="TextBox 15"/>
          <p:cNvSpPr txBox="1"/>
          <p:nvPr/>
        </p:nvSpPr>
        <p:spPr bwMode="auto">
          <a:xfrm>
            <a:off x="560527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rPr/>
              <a:t>Select</a:t>
            </a:r>
            <a:endParaRPr/>
          </a:p>
        </p:txBody>
      </p:sp>
      <p:sp>
        <p:nvSpPr>
          <p:cNvPr id="1009902057" name="TextBox 16"/>
          <p:cNvSpPr txBox="1"/>
          <p:nvPr/>
        </p:nvSpPr>
        <p:spPr bwMode="auto">
          <a:xfrm>
            <a:off x="5779009" y="279727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/>
              <a:t>Voter chooses one candidate.</a:t>
            </a:r>
            <a:endParaRPr/>
          </a:p>
        </p:txBody>
      </p:sp>
      <p:cxnSp>
        <p:nvCxnSpPr>
          <p:cNvPr id="89823077" name="Connector 17"/>
          <p:cNvCxnSpPr/>
          <p:nvPr/>
        </p:nvCxnSpPr>
        <p:spPr bwMode="auto">
          <a:xfrm>
            <a:off x="676656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3406568" name="Oval 18"/>
          <p:cNvSpPr/>
          <p:nvPr/>
        </p:nvSpPr>
        <p:spPr bwMode="auto">
          <a:xfrm>
            <a:off x="6963156" y="1682495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4</a:t>
            </a:r>
            <a:endParaRPr/>
          </a:p>
        </p:txBody>
      </p:sp>
      <p:sp>
        <p:nvSpPr>
          <p:cNvPr id="280901739" name="TextBox 19"/>
          <p:cNvSpPr txBox="1"/>
          <p:nvPr/>
        </p:nvSpPr>
        <p:spPr bwMode="auto">
          <a:xfrm>
            <a:off x="7799831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rPr/>
              <a:t>Submit</a:t>
            </a:r>
            <a:endParaRPr/>
          </a:p>
        </p:txBody>
      </p:sp>
      <p:sp>
        <p:nvSpPr>
          <p:cNvPr id="940492880" name="TextBox 20"/>
          <p:cNvSpPr txBox="1"/>
          <p:nvPr/>
        </p:nvSpPr>
        <p:spPr bwMode="auto">
          <a:xfrm>
            <a:off x="7799831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/>
              <a:t>Vote data is hashed with a random salt and stored.</a:t>
            </a:r>
            <a:endParaRPr/>
          </a:p>
        </p:txBody>
      </p:sp>
      <p:cxnSp>
        <p:nvCxnSpPr>
          <p:cNvPr id="476165745" name="Connector 21"/>
          <p:cNvCxnSpPr/>
          <p:nvPr/>
        </p:nvCxnSpPr>
        <p:spPr bwMode="auto">
          <a:xfrm>
            <a:off x="8961119" y="2130552"/>
            <a:ext cx="484633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4245001" name="Oval 22"/>
          <p:cNvSpPr/>
          <p:nvPr/>
        </p:nvSpPr>
        <p:spPr bwMode="auto">
          <a:xfrm>
            <a:off x="9194292" y="1709928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5</a:t>
            </a:r>
            <a:endParaRPr/>
          </a:p>
        </p:txBody>
      </p:sp>
      <p:sp>
        <p:nvSpPr>
          <p:cNvPr id="1296891605" name="TextBox 23"/>
          <p:cNvSpPr txBox="1"/>
          <p:nvPr/>
        </p:nvSpPr>
        <p:spPr bwMode="auto">
          <a:xfrm>
            <a:off x="999439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rPr/>
              <a:t>Receipt</a:t>
            </a:r>
            <a:endParaRPr/>
          </a:p>
        </p:txBody>
      </p:sp>
      <p:sp>
        <p:nvSpPr>
          <p:cNvPr id="1293044616" name="TextBox 24"/>
          <p:cNvSpPr txBox="1"/>
          <p:nvPr/>
        </p:nvSpPr>
        <p:spPr bwMode="auto">
          <a:xfrm>
            <a:off x="9994392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/>
              <a:t>System shows a receipt hash and timestamp.</a:t>
            </a:r>
            <a:endParaRPr/>
          </a:p>
        </p:txBody>
      </p:sp>
      <p:sp>
        <p:nvSpPr>
          <p:cNvPr id="1869007528" name="Rounded Rectangle 25"/>
          <p:cNvSpPr/>
          <p:nvPr/>
        </p:nvSpPr>
        <p:spPr bwMode="auto">
          <a:xfrm>
            <a:off x="914400" y="3931920"/>
            <a:ext cx="10332720" cy="141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10272" name="Rectangle 26"/>
          <p:cNvSpPr/>
          <p:nvPr/>
        </p:nvSpPr>
        <p:spPr bwMode="auto">
          <a:xfrm>
            <a:off x="914400" y="393192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8222949" name="TextBox 27"/>
          <p:cNvSpPr txBox="1"/>
          <p:nvPr/>
        </p:nvSpPr>
        <p:spPr bwMode="auto">
          <a:xfrm>
            <a:off x="1115568" y="4096511"/>
            <a:ext cx="9948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Important rule</a:t>
            </a:r>
            <a:endParaRPr/>
          </a:p>
        </p:txBody>
      </p:sp>
      <p:sp>
        <p:nvSpPr>
          <p:cNvPr id="15760023" name="TextBox 28"/>
          <p:cNvSpPr txBox="1"/>
          <p:nvPr/>
        </p:nvSpPr>
        <p:spPr bwMode="auto">
          <a:xfrm>
            <a:off x="1115568" y="4553712"/>
            <a:ext cx="9948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A voter who has already voted cannot submit another ballot. The system marks hasVoted = true after submission.</a:t>
            </a:r>
            <a:endParaRPr/>
          </a:p>
        </p:txBody>
      </p:sp>
      <p:sp>
        <p:nvSpPr>
          <p:cNvPr id="243204764" name="TextBox 29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5</a:t>
            </a:r>
            <a:endParaRPr/>
          </a:p>
        </p:txBody>
      </p:sp>
      <p:pic>
        <p:nvPicPr>
          <p:cNvPr id="1731323008" name="Picture 3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96234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9357294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8263673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563862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5. Voter Features</a:t>
            </a:r>
            <a:endParaRPr/>
          </a:p>
        </p:txBody>
      </p:sp>
      <p:sp>
        <p:nvSpPr>
          <p:cNvPr id="1861065238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What the voter can do</a:t>
            </a:r>
            <a:endParaRPr/>
          </a:p>
        </p:txBody>
      </p:sp>
      <p:sp>
        <p:nvSpPr>
          <p:cNvPr id="733244557" name="Rounded Rectangle 6"/>
          <p:cNvSpPr/>
          <p:nvPr/>
        </p:nvSpPr>
        <p:spPr bwMode="auto">
          <a:xfrm>
            <a:off x="640080" y="1051560"/>
            <a:ext cx="6400800" cy="5074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475710" name="Rectangle 7"/>
          <p:cNvSpPr/>
          <p:nvPr/>
        </p:nvSpPr>
        <p:spPr bwMode="auto">
          <a:xfrm>
            <a:off x="640080" y="1051560"/>
            <a:ext cx="6400800" cy="5943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3389749" name="TextBox 8"/>
          <p:cNvSpPr txBox="1"/>
          <p:nvPr/>
        </p:nvSpPr>
        <p:spPr bwMode="auto">
          <a:xfrm>
            <a:off x="914400" y="1197864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rPr/>
              <a:t>2026 General Election</a:t>
            </a:r>
            <a:endParaRPr/>
          </a:p>
        </p:txBody>
      </p:sp>
      <p:sp>
        <p:nvSpPr>
          <p:cNvPr id="369949153" name="Oval 9"/>
          <p:cNvSpPr/>
          <p:nvPr/>
        </p:nvSpPr>
        <p:spPr bwMode="auto">
          <a:xfrm>
            <a:off x="914400" y="187451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0932207" name="TextBox 10"/>
          <p:cNvSpPr txBox="1"/>
          <p:nvPr/>
        </p:nvSpPr>
        <p:spPr bwMode="auto">
          <a:xfrm>
            <a:off x="1371600" y="185623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rPr/>
              <a:t>Amara Osei</a:t>
            </a:r>
            <a:endParaRPr/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rPr/>
              <a:t>Civic Unity Party</a:t>
            </a:r>
            <a:endParaRPr/>
          </a:p>
        </p:txBody>
      </p:sp>
      <p:sp>
        <p:nvSpPr>
          <p:cNvPr id="1519404316" name="Oval 11"/>
          <p:cNvSpPr/>
          <p:nvPr/>
        </p:nvSpPr>
        <p:spPr bwMode="auto">
          <a:xfrm>
            <a:off x="914400" y="283463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6422960" name="TextBox 12"/>
          <p:cNvSpPr txBox="1"/>
          <p:nvPr/>
        </p:nvSpPr>
        <p:spPr bwMode="auto">
          <a:xfrm>
            <a:off x="1371600" y="281635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rPr/>
              <a:t>Daniel Reyes</a:t>
            </a:r>
            <a:endParaRPr/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rPr/>
              <a:t>Progress Alliance</a:t>
            </a:r>
            <a:endParaRPr/>
          </a:p>
        </p:txBody>
      </p:sp>
      <p:sp>
        <p:nvSpPr>
          <p:cNvPr id="311850750" name="Oval 13"/>
          <p:cNvSpPr/>
          <p:nvPr/>
        </p:nvSpPr>
        <p:spPr bwMode="auto">
          <a:xfrm>
            <a:off x="914400" y="3794760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2989805" name="TextBox 14"/>
          <p:cNvSpPr txBox="1"/>
          <p:nvPr/>
        </p:nvSpPr>
        <p:spPr bwMode="auto">
          <a:xfrm>
            <a:off x="1371600" y="377647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rPr/>
              <a:t>Meera Kapoor</a:t>
            </a:r>
            <a:endParaRPr/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rPr/>
              <a:t>Independent</a:t>
            </a:r>
            <a:endParaRPr/>
          </a:p>
        </p:txBody>
      </p:sp>
      <p:sp>
        <p:nvSpPr>
          <p:cNvPr id="190623729" name="Rounded Rectangle 15"/>
          <p:cNvSpPr/>
          <p:nvPr/>
        </p:nvSpPr>
        <p:spPr bwMode="auto">
          <a:xfrm>
            <a:off x="4709160" y="5257800"/>
            <a:ext cx="1828800" cy="502920"/>
          </a:xfrm>
          <a:prstGeom prst="roundRect">
            <a:avLst>
              <a:gd name="adj" fmla="val 16667"/>
            </a:avLst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Seal &amp; submit vote</a:t>
            </a:r>
            <a:endParaRPr/>
          </a:p>
        </p:txBody>
      </p:sp>
      <p:sp>
        <p:nvSpPr>
          <p:cNvPr id="1022065902" name="TextBox 16"/>
          <p:cNvSpPr txBox="1"/>
          <p:nvPr/>
        </p:nvSpPr>
        <p:spPr bwMode="auto">
          <a:xfrm>
            <a:off x="7452360" y="128016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Voter login uses a Voter ID and password.</a:t>
            </a:r>
            <a:endParaRPr/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The ballot shows the candidate name and party/description.</a:t>
            </a:r>
            <a:endParaRPr/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The submit button becomes available after a candidate is selected.</a:t>
            </a:r>
            <a:endParaRPr/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After submission, the voter can open “My Receipt”.</a:t>
            </a:r>
            <a:endParaRPr/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The voter can also view live results.</a:t>
            </a:r>
            <a:endParaRPr/>
          </a:p>
        </p:txBody>
      </p:sp>
      <p:sp>
        <p:nvSpPr>
          <p:cNvPr id="660600478" name="TextBox 17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37930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0516318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412423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7071571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6. Admin Features</a:t>
            </a:r>
            <a:endParaRPr/>
          </a:p>
        </p:txBody>
      </p:sp>
      <p:sp>
        <p:nvSpPr>
          <p:cNvPr id="965269581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Election management</a:t>
            </a:r>
            <a:endParaRPr/>
          </a:p>
        </p:txBody>
      </p:sp>
      <p:sp>
        <p:nvSpPr>
          <p:cNvPr id="1768344081" name="Rounded Rectangle 6"/>
          <p:cNvSpPr/>
          <p:nvPr/>
        </p:nvSpPr>
        <p:spPr bwMode="auto">
          <a:xfrm>
            <a:off x="640080" y="105156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300758" name="Rectangle 7"/>
          <p:cNvSpPr/>
          <p:nvPr/>
        </p:nvSpPr>
        <p:spPr bwMode="auto">
          <a:xfrm>
            <a:off x="640080" y="105156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3618184" name="TextBox 8"/>
          <p:cNvSpPr txBox="1"/>
          <p:nvPr/>
        </p:nvSpPr>
        <p:spPr bwMode="auto">
          <a:xfrm>
            <a:off x="841247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Election Setup</a:t>
            </a:r>
            <a:endParaRPr/>
          </a:p>
        </p:txBody>
      </p:sp>
      <p:sp>
        <p:nvSpPr>
          <p:cNvPr id="1070416634" name="TextBox 9"/>
          <p:cNvSpPr txBox="1"/>
          <p:nvPr/>
        </p:nvSpPr>
        <p:spPr bwMode="auto">
          <a:xfrm>
            <a:off x="841247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Change election name, open/close status, and voting dates.</a:t>
            </a:r>
            <a:endParaRPr/>
          </a:p>
        </p:txBody>
      </p:sp>
      <p:sp>
        <p:nvSpPr>
          <p:cNvPr id="824938735" name="Rounded Rectangle 10"/>
          <p:cNvSpPr/>
          <p:nvPr/>
        </p:nvSpPr>
        <p:spPr bwMode="auto">
          <a:xfrm>
            <a:off x="4343400" y="105156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302375" name="Rectangle 11"/>
          <p:cNvSpPr/>
          <p:nvPr/>
        </p:nvSpPr>
        <p:spPr bwMode="auto">
          <a:xfrm>
            <a:off x="4343400" y="105156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9393033" name="TextBox 12"/>
          <p:cNvSpPr txBox="1"/>
          <p:nvPr/>
        </p:nvSpPr>
        <p:spPr bwMode="auto">
          <a:xfrm>
            <a:off x="454456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Candidate Management</a:t>
            </a:r>
            <a:endParaRPr/>
          </a:p>
        </p:txBody>
      </p:sp>
      <p:sp>
        <p:nvSpPr>
          <p:cNvPr id="952067150" name="TextBox 13"/>
          <p:cNvSpPr txBox="1"/>
          <p:nvPr/>
        </p:nvSpPr>
        <p:spPr bwMode="auto">
          <a:xfrm>
            <a:off x="454456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Add a candidate or proposal with a party or description.</a:t>
            </a:r>
            <a:endParaRPr/>
          </a:p>
        </p:txBody>
      </p:sp>
      <p:sp>
        <p:nvSpPr>
          <p:cNvPr id="527625794" name="Rounded Rectangle 14"/>
          <p:cNvSpPr/>
          <p:nvPr/>
        </p:nvSpPr>
        <p:spPr bwMode="auto">
          <a:xfrm>
            <a:off x="8046720" y="105156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11939" name="Rectangle 15"/>
          <p:cNvSpPr/>
          <p:nvPr/>
        </p:nvSpPr>
        <p:spPr bwMode="auto">
          <a:xfrm>
            <a:off x="8046720" y="1051560"/>
            <a:ext cx="73152" cy="1874519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800340" name="TextBox 16"/>
          <p:cNvSpPr txBox="1"/>
          <p:nvPr/>
        </p:nvSpPr>
        <p:spPr bwMode="auto">
          <a:xfrm>
            <a:off x="824788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Voter Registry</a:t>
            </a:r>
            <a:endParaRPr/>
          </a:p>
        </p:txBody>
      </p:sp>
      <p:sp>
        <p:nvSpPr>
          <p:cNvPr id="1834324137" name="TextBox 17"/>
          <p:cNvSpPr txBox="1"/>
          <p:nvPr/>
        </p:nvSpPr>
        <p:spPr bwMode="auto">
          <a:xfrm>
            <a:off x="824788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Register voters with a Voter ID and temporary password.</a:t>
            </a:r>
            <a:endParaRPr/>
          </a:p>
        </p:txBody>
      </p:sp>
      <p:sp>
        <p:nvSpPr>
          <p:cNvPr id="617206686" name="Rounded Rectangle 18"/>
          <p:cNvSpPr/>
          <p:nvPr/>
        </p:nvSpPr>
        <p:spPr bwMode="auto">
          <a:xfrm>
            <a:off x="640080" y="324612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8196628" name="Rectangle 19"/>
          <p:cNvSpPr/>
          <p:nvPr/>
        </p:nvSpPr>
        <p:spPr bwMode="auto">
          <a:xfrm>
            <a:off x="640080" y="3246120"/>
            <a:ext cx="73152" cy="1874519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4084146" name="TextBox 20"/>
          <p:cNvSpPr txBox="1"/>
          <p:nvPr/>
        </p:nvSpPr>
        <p:spPr bwMode="auto">
          <a:xfrm>
            <a:off x="841247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Results &amp; Tally</a:t>
            </a:r>
            <a:endParaRPr/>
          </a:p>
        </p:txBody>
      </p:sp>
      <p:sp>
        <p:nvSpPr>
          <p:cNvPr id="1145855594" name="TextBox 21"/>
          <p:cNvSpPr txBox="1"/>
          <p:nvPr/>
        </p:nvSpPr>
        <p:spPr bwMode="auto">
          <a:xfrm>
            <a:off x="841247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See ballots cast, registered voters, turnout, and votes per candidate.</a:t>
            </a:r>
            <a:endParaRPr/>
          </a:p>
        </p:txBody>
      </p:sp>
      <p:sp>
        <p:nvSpPr>
          <p:cNvPr id="1782014721" name="Rounded Rectangle 22"/>
          <p:cNvSpPr/>
          <p:nvPr/>
        </p:nvSpPr>
        <p:spPr bwMode="auto">
          <a:xfrm>
            <a:off x="4343400" y="324612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4519208" name="Rectangle 23"/>
          <p:cNvSpPr/>
          <p:nvPr/>
        </p:nvSpPr>
        <p:spPr bwMode="auto">
          <a:xfrm>
            <a:off x="4343400" y="324612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283626" name="TextBox 24"/>
          <p:cNvSpPr txBox="1"/>
          <p:nvPr/>
        </p:nvSpPr>
        <p:spPr bwMode="auto">
          <a:xfrm>
            <a:off x="454456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Announce Results</a:t>
            </a:r>
            <a:endParaRPr/>
          </a:p>
        </p:txBody>
      </p:sp>
      <p:sp>
        <p:nvSpPr>
          <p:cNvPr id="427945792" name="TextBox 25"/>
          <p:cNvSpPr txBox="1"/>
          <p:nvPr/>
        </p:nvSpPr>
        <p:spPr bwMode="auto">
          <a:xfrm>
            <a:off x="454456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Admin can mark the results as certified and announced to voters.</a:t>
            </a:r>
            <a:endParaRPr/>
          </a:p>
        </p:txBody>
      </p:sp>
      <p:sp>
        <p:nvSpPr>
          <p:cNvPr id="1970929455" name="Rounded Rectangle 26"/>
          <p:cNvSpPr/>
          <p:nvPr/>
        </p:nvSpPr>
        <p:spPr bwMode="auto">
          <a:xfrm>
            <a:off x="8046720" y="3246120"/>
            <a:ext cx="352044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7182413" name="Rectangle 27"/>
          <p:cNvSpPr/>
          <p:nvPr/>
        </p:nvSpPr>
        <p:spPr bwMode="auto">
          <a:xfrm>
            <a:off x="8046720" y="324612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6999332" name="TextBox 28"/>
          <p:cNvSpPr txBox="1"/>
          <p:nvPr/>
        </p:nvSpPr>
        <p:spPr bwMode="auto">
          <a:xfrm>
            <a:off x="824788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Audit Trail</a:t>
            </a:r>
            <a:endParaRPr/>
          </a:p>
        </p:txBody>
      </p:sp>
      <p:sp>
        <p:nvSpPr>
          <p:cNvPr id="1176864468" name="TextBox 29"/>
          <p:cNvSpPr txBox="1"/>
          <p:nvPr/>
        </p:nvSpPr>
        <p:spPr bwMode="auto">
          <a:xfrm>
            <a:off x="824788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Shows registrations, settings changes, logins, and ballot submissions.</a:t>
            </a:r>
            <a:endParaRPr/>
          </a:p>
        </p:txBody>
      </p:sp>
      <p:sp>
        <p:nvSpPr>
          <p:cNvPr id="528217414" name="TextBox 30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8524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130252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5511709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9841765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7. Security and Integrity</a:t>
            </a:r>
            <a:endParaRPr/>
          </a:p>
        </p:txBody>
      </p:sp>
      <p:sp>
        <p:nvSpPr>
          <p:cNvPr id="570505811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How trust is demonstrated</a:t>
            </a:r>
            <a:endParaRPr/>
          </a:p>
        </p:txBody>
      </p:sp>
      <p:sp>
        <p:nvSpPr>
          <p:cNvPr id="704190607" name="Rounded Rectangle 6"/>
          <p:cNvSpPr/>
          <p:nvPr/>
        </p:nvSpPr>
        <p:spPr bwMode="auto">
          <a:xfrm>
            <a:off x="594360" y="1051560"/>
            <a:ext cx="3566160" cy="192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3056506" name="Rectangle 7"/>
          <p:cNvSpPr/>
          <p:nvPr/>
        </p:nvSpPr>
        <p:spPr bwMode="auto">
          <a:xfrm>
            <a:off x="594360" y="1051560"/>
            <a:ext cx="73152" cy="1920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433291" name="TextBox 8"/>
          <p:cNvSpPr txBox="1"/>
          <p:nvPr/>
        </p:nvSpPr>
        <p:spPr bwMode="auto">
          <a:xfrm>
            <a:off x="79552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SHA-256 Hash</a:t>
            </a:r>
            <a:endParaRPr/>
          </a:p>
        </p:txBody>
      </p:sp>
      <p:sp>
        <p:nvSpPr>
          <p:cNvPr id="718032091" name="TextBox 9"/>
          <p:cNvSpPr txBox="1"/>
          <p:nvPr/>
        </p:nvSpPr>
        <p:spPr bwMode="auto">
          <a:xfrm>
            <a:off x="79552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The project uses the Web Crypto API to calculate a SHA-256 hash.</a:t>
            </a:r>
            <a:endParaRPr/>
          </a:p>
        </p:txBody>
      </p:sp>
      <p:sp>
        <p:nvSpPr>
          <p:cNvPr id="1319238054" name="Rounded Rectangle 10"/>
          <p:cNvSpPr/>
          <p:nvPr/>
        </p:nvSpPr>
        <p:spPr bwMode="auto">
          <a:xfrm>
            <a:off x="4315968" y="1051560"/>
            <a:ext cx="3566160" cy="192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843314" name="Rectangle 11"/>
          <p:cNvSpPr/>
          <p:nvPr/>
        </p:nvSpPr>
        <p:spPr bwMode="auto">
          <a:xfrm>
            <a:off x="4315968" y="1051560"/>
            <a:ext cx="73152" cy="1920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755684" name="TextBox 12"/>
          <p:cNvSpPr txBox="1"/>
          <p:nvPr/>
        </p:nvSpPr>
        <p:spPr bwMode="auto">
          <a:xfrm>
            <a:off x="4517136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Salted Vote Hash</a:t>
            </a:r>
            <a:endParaRPr/>
          </a:p>
        </p:txBody>
      </p:sp>
      <p:sp>
        <p:nvSpPr>
          <p:cNvPr id="514525989" name="TextBox 13"/>
          <p:cNvSpPr txBox="1"/>
          <p:nvPr/>
        </p:nvSpPr>
        <p:spPr bwMode="auto">
          <a:xfrm>
            <a:off x="4517136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The submitted vote is combined with voter ID, time, and a random salt before hashing.</a:t>
            </a:r>
            <a:endParaRPr/>
          </a:p>
        </p:txBody>
      </p:sp>
      <p:sp>
        <p:nvSpPr>
          <p:cNvPr id="2009871444" name="Rounded Rectangle 14"/>
          <p:cNvSpPr/>
          <p:nvPr/>
        </p:nvSpPr>
        <p:spPr bwMode="auto">
          <a:xfrm>
            <a:off x="8046720" y="1051560"/>
            <a:ext cx="3566160" cy="192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407787" name="Rectangle 15"/>
          <p:cNvSpPr/>
          <p:nvPr/>
        </p:nvSpPr>
        <p:spPr bwMode="auto">
          <a:xfrm>
            <a:off x="8046720" y="1051560"/>
            <a:ext cx="73152" cy="1920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2047680" name="TextBox 16"/>
          <p:cNvSpPr txBox="1"/>
          <p:nvPr/>
        </p:nvSpPr>
        <p:spPr bwMode="auto">
          <a:xfrm>
            <a:off x="824788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Receipt</a:t>
            </a:r>
            <a:endParaRPr/>
          </a:p>
        </p:txBody>
      </p:sp>
      <p:sp>
        <p:nvSpPr>
          <p:cNvPr id="839302578" name="TextBox 17"/>
          <p:cNvSpPr txBox="1"/>
          <p:nvPr/>
        </p:nvSpPr>
        <p:spPr bwMode="auto">
          <a:xfrm>
            <a:off x="824788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The voter receives the hash and timestamp as proof that the ballot was recorded.</a:t>
            </a:r>
            <a:endParaRPr/>
          </a:p>
        </p:txBody>
      </p:sp>
      <p:sp>
        <p:nvSpPr>
          <p:cNvPr id="430797329" name="Rounded Rectangle 18"/>
          <p:cNvSpPr/>
          <p:nvPr/>
        </p:nvSpPr>
        <p:spPr bwMode="auto">
          <a:xfrm>
            <a:off x="1508759" y="3429000"/>
            <a:ext cx="429768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0492233" name="Rectangle 19"/>
          <p:cNvSpPr/>
          <p:nvPr/>
        </p:nvSpPr>
        <p:spPr bwMode="auto">
          <a:xfrm>
            <a:off x="1508759" y="3429000"/>
            <a:ext cx="73152" cy="182880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5165775" name="TextBox 20"/>
          <p:cNvSpPr txBox="1"/>
          <p:nvPr/>
        </p:nvSpPr>
        <p:spPr bwMode="auto">
          <a:xfrm>
            <a:off x="170992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Chained Audit Log</a:t>
            </a:r>
            <a:endParaRPr/>
          </a:p>
        </p:txBody>
      </p:sp>
      <p:sp>
        <p:nvSpPr>
          <p:cNvPr id="1131390080" name="TextBox 21"/>
          <p:cNvSpPr txBox="1"/>
          <p:nvPr/>
        </p:nvSpPr>
        <p:spPr bwMode="auto">
          <a:xfrm>
            <a:off x="170992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Each audit record stores the previous record’s hash. If an earlier record changes, the chain no longer matches.</a:t>
            </a:r>
            <a:endParaRPr/>
          </a:p>
        </p:txBody>
      </p:sp>
      <p:sp>
        <p:nvSpPr>
          <p:cNvPr id="1090202960" name="Rounded Rectangle 22"/>
          <p:cNvSpPr/>
          <p:nvPr/>
        </p:nvSpPr>
        <p:spPr bwMode="auto">
          <a:xfrm>
            <a:off x="6355080" y="3429000"/>
            <a:ext cx="429768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6283010" name="Rectangle 23"/>
          <p:cNvSpPr/>
          <p:nvPr/>
        </p:nvSpPr>
        <p:spPr bwMode="auto">
          <a:xfrm>
            <a:off x="6355080" y="3429000"/>
            <a:ext cx="73152" cy="182880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134425" name="TextBox 24"/>
          <p:cNvSpPr txBox="1"/>
          <p:nvPr/>
        </p:nvSpPr>
        <p:spPr bwMode="auto">
          <a:xfrm>
            <a:off x="655624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One Vote Per Voter</a:t>
            </a:r>
            <a:endParaRPr/>
          </a:p>
        </p:txBody>
      </p:sp>
      <p:sp>
        <p:nvSpPr>
          <p:cNvPr id="266210257" name="TextBox 25"/>
          <p:cNvSpPr txBox="1"/>
          <p:nvPr/>
        </p:nvSpPr>
        <p:spPr bwMode="auto">
          <a:xfrm>
            <a:off x="655624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rPr/>
              <a:t>The voter is marked as having voted after submission, so another ballot cannot be submitted in the same demo session.</a:t>
            </a:r>
            <a:endParaRPr/>
          </a:p>
        </p:txBody>
      </p:sp>
      <p:sp>
        <p:nvSpPr>
          <p:cNvPr id="1966949740" name="TextBox 26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6786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301193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8338243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4785218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8. Technologies Used</a:t>
            </a:r>
            <a:endParaRPr/>
          </a:p>
        </p:txBody>
      </p:sp>
      <p:sp>
        <p:nvSpPr>
          <p:cNvPr id="605870301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Simple technology stack</a:t>
            </a:r>
            <a:endParaRPr/>
          </a:p>
        </p:txBody>
      </p:sp>
      <p:sp>
        <p:nvSpPr>
          <p:cNvPr id="1669872570" name="Rounded Rectangle 6"/>
          <p:cNvSpPr/>
          <p:nvPr/>
        </p:nvSpPr>
        <p:spPr bwMode="auto">
          <a:xfrm>
            <a:off x="685800" y="1143000"/>
            <a:ext cx="3383280" cy="42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80039" name="Rectangle 7"/>
          <p:cNvSpPr/>
          <p:nvPr/>
        </p:nvSpPr>
        <p:spPr bwMode="auto">
          <a:xfrm>
            <a:off x="685800" y="1143000"/>
            <a:ext cx="73152" cy="4206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983841" name="TextBox 8"/>
          <p:cNvSpPr txBox="1"/>
          <p:nvPr/>
        </p:nvSpPr>
        <p:spPr bwMode="auto">
          <a:xfrm>
            <a:off x="88696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HTML</a:t>
            </a:r>
            <a:endParaRPr/>
          </a:p>
        </p:txBody>
      </p:sp>
      <p:sp>
        <p:nvSpPr>
          <p:cNvPr id="1497748676" name="TextBox 9"/>
          <p:cNvSpPr txBox="1"/>
          <p:nvPr/>
        </p:nvSpPr>
        <p:spPr bwMode="auto">
          <a:xfrm>
            <a:off x="88696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Creates the pages and user interface:</a:t>
            </a:r>
            <a:br>
              <a:rPr/>
            </a:br>
            <a:br>
              <a:rPr/>
            </a:br>
            <a:r>
              <a:rPr/>
              <a:t>• Login screen</a:t>
            </a:r>
            <a:br>
              <a:rPr/>
            </a:br>
            <a:r>
              <a:rPr/>
              <a:t>• Ballot</a:t>
            </a:r>
            <a:br>
              <a:rPr/>
            </a:br>
            <a:r>
              <a:rPr/>
              <a:t>• Receipt</a:t>
            </a:r>
            <a:br>
              <a:rPr/>
            </a:br>
            <a:r>
              <a:rPr/>
              <a:t>• Results</a:t>
            </a:r>
            <a:br>
              <a:rPr/>
            </a:br>
            <a:r>
              <a:rPr/>
              <a:t>• Admin pages</a:t>
            </a:r>
            <a:endParaRPr/>
          </a:p>
        </p:txBody>
      </p:sp>
      <p:sp>
        <p:nvSpPr>
          <p:cNvPr id="346184766" name="Rounded Rectangle 10"/>
          <p:cNvSpPr/>
          <p:nvPr/>
        </p:nvSpPr>
        <p:spPr bwMode="auto">
          <a:xfrm>
            <a:off x="4389120" y="1143000"/>
            <a:ext cx="3383280" cy="42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9722871" name="Rectangle 11"/>
          <p:cNvSpPr/>
          <p:nvPr/>
        </p:nvSpPr>
        <p:spPr bwMode="auto">
          <a:xfrm>
            <a:off x="4389120" y="1143000"/>
            <a:ext cx="73152" cy="4206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5397729" name="TextBox 12"/>
          <p:cNvSpPr txBox="1"/>
          <p:nvPr/>
        </p:nvSpPr>
        <p:spPr bwMode="auto">
          <a:xfrm>
            <a:off x="459028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CSS</a:t>
            </a:r>
            <a:endParaRPr/>
          </a:p>
        </p:txBody>
      </p:sp>
      <p:sp>
        <p:nvSpPr>
          <p:cNvPr id="940067087" name="TextBox 13"/>
          <p:cNvSpPr txBox="1"/>
          <p:nvPr/>
        </p:nvSpPr>
        <p:spPr bwMode="auto">
          <a:xfrm>
            <a:off x="459028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Controls the design and layout:</a:t>
            </a:r>
            <a:br>
              <a:rPr/>
            </a:br>
            <a:br>
              <a:rPr/>
            </a:br>
            <a:r>
              <a:rPr/>
              <a:t>• Colors</a:t>
            </a:r>
            <a:br>
              <a:rPr/>
            </a:br>
            <a:r>
              <a:rPr/>
              <a:t>• Cards</a:t>
            </a:r>
            <a:br>
              <a:rPr/>
            </a:br>
            <a:r>
              <a:rPr/>
              <a:t>• Buttons</a:t>
            </a:r>
            <a:br>
              <a:rPr/>
            </a:br>
            <a:r>
              <a:rPr/>
              <a:t>• Tables</a:t>
            </a:r>
            <a:br>
              <a:rPr/>
            </a:br>
            <a:r>
              <a:rPr/>
              <a:t>• Responsive layout</a:t>
            </a:r>
            <a:endParaRPr/>
          </a:p>
        </p:txBody>
      </p:sp>
      <p:sp>
        <p:nvSpPr>
          <p:cNvPr id="197711545" name="Rounded Rectangle 14"/>
          <p:cNvSpPr/>
          <p:nvPr/>
        </p:nvSpPr>
        <p:spPr bwMode="auto">
          <a:xfrm>
            <a:off x="8092440" y="1143000"/>
            <a:ext cx="3383280" cy="4206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3295592" name="Rectangle 15"/>
          <p:cNvSpPr/>
          <p:nvPr/>
        </p:nvSpPr>
        <p:spPr bwMode="auto">
          <a:xfrm>
            <a:off x="8092440" y="1143000"/>
            <a:ext cx="73152" cy="4206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4512015" name="TextBox 16"/>
          <p:cNvSpPr txBox="1"/>
          <p:nvPr/>
        </p:nvSpPr>
        <p:spPr bwMode="auto">
          <a:xfrm>
            <a:off x="8293607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JavaScript</a:t>
            </a:r>
            <a:endParaRPr/>
          </a:p>
        </p:txBody>
      </p:sp>
      <p:sp>
        <p:nvSpPr>
          <p:cNvPr id="1279369505" name="TextBox 17"/>
          <p:cNvSpPr txBox="1"/>
          <p:nvPr/>
        </p:nvSpPr>
        <p:spPr bwMode="auto">
          <a:xfrm>
            <a:off x="8293607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Controls the application logic:</a:t>
            </a:r>
            <a:br>
              <a:rPr/>
            </a:br>
            <a:br>
              <a:rPr/>
            </a:br>
            <a:r>
              <a:rPr/>
              <a:t>• Login</a:t>
            </a:r>
            <a:br>
              <a:rPr/>
            </a:br>
            <a:r>
              <a:rPr/>
              <a:t>• Voting</a:t>
            </a:r>
            <a:br>
              <a:rPr/>
            </a:br>
            <a:r>
              <a:rPr/>
              <a:t>• Results</a:t>
            </a:r>
            <a:br>
              <a:rPr/>
            </a:br>
            <a:r>
              <a:rPr/>
              <a:t>• Voter registry</a:t>
            </a:r>
            <a:br>
              <a:rPr/>
            </a:br>
            <a:r>
              <a:rPr/>
              <a:t>• SHA-256 hashing</a:t>
            </a:r>
            <a:br>
              <a:rPr/>
            </a:br>
            <a:r>
              <a:rPr/>
              <a:t>• Audit trail</a:t>
            </a:r>
            <a:endParaRPr/>
          </a:p>
        </p:txBody>
      </p:sp>
      <p:sp>
        <p:nvSpPr>
          <p:cNvPr id="805484533" name="TextBox 18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76904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2493127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6892952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46440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9. Suggested Demo</a:t>
            </a:r>
            <a:endParaRPr/>
          </a:p>
        </p:txBody>
      </p:sp>
      <p:sp>
        <p:nvSpPr>
          <p:cNvPr id="1624860447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How to explain it live</a:t>
            </a:r>
            <a:endParaRPr/>
          </a:p>
        </p:txBody>
      </p:sp>
      <p:sp>
        <p:nvSpPr>
          <p:cNvPr id="1559225882" name="Rounded Rectangle 6"/>
          <p:cNvSpPr/>
          <p:nvPr/>
        </p:nvSpPr>
        <p:spPr bwMode="auto">
          <a:xfrm>
            <a:off x="685800" y="1097280"/>
            <a:ext cx="521208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9397430" name="Rectangle 7"/>
          <p:cNvSpPr/>
          <p:nvPr/>
        </p:nvSpPr>
        <p:spPr bwMode="auto">
          <a:xfrm>
            <a:off x="6858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6627930" name="TextBox 8"/>
          <p:cNvSpPr txBox="1"/>
          <p:nvPr/>
        </p:nvSpPr>
        <p:spPr bwMode="auto">
          <a:xfrm>
            <a:off x="88696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Voter Demo</a:t>
            </a:r>
            <a:endParaRPr/>
          </a:p>
        </p:txBody>
      </p:sp>
      <p:sp>
        <p:nvSpPr>
          <p:cNvPr id="71632154" name="TextBox 9"/>
          <p:cNvSpPr txBox="1"/>
          <p:nvPr/>
        </p:nvSpPr>
        <p:spPr bwMode="auto">
          <a:xfrm>
            <a:off x="88696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1. Open the login page.</a:t>
            </a:r>
            <a:br>
              <a:rPr/>
            </a:br>
            <a:r>
              <a:rPr/>
              <a:t>2. Use the demo voter credentials from the project.</a:t>
            </a:r>
            <a:br>
              <a:rPr/>
            </a:br>
            <a:r>
              <a:rPr/>
              <a:t>3. Select a candidate.</a:t>
            </a:r>
            <a:br>
              <a:rPr/>
            </a:br>
            <a:r>
              <a:rPr/>
              <a:t>4. Click “Seal &amp; submit vote”.</a:t>
            </a:r>
            <a:br>
              <a:rPr/>
            </a:br>
            <a:r>
              <a:rPr/>
              <a:t>5. Open “My Receipt”.</a:t>
            </a:r>
            <a:br>
              <a:rPr/>
            </a:br>
            <a:r>
              <a:rPr/>
              <a:t>6. Show the SHA-256 receipt hash.</a:t>
            </a:r>
            <a:br>
              <a:rPr/>
            </a:br>
            <a:r>
              <a:rPr/>
              <a:t>7. Open “Live Results” to show the updated tally.</a:t>
            </a:r>
            <a:endParaRPr/>
          </a:p>
        </p:txBody>
      </p:sp>
      <p:sp>
        <p:nvSpPr>
          <p:cNvPr id="1896339664" name="Rounded Rectangle 10"/>
          <p:cNvSpPr/>
          <p:nvPr/>
        </p:nvSpPr>
        <p:spPr bwMode="auto">
          <a:xfrm>
            <a:off x="6217920" y="1097280"/>
            <a:ext cx="521208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4556353" name="Rectangle 11"/>
          <p:cNvSpPr/>
          <p:nvPr/>
        </p:nvSpPr>
        <p:spPr bwMode="auto">
          <a:xfrm>
            <a:off x="6217920" y="109728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627934" name="TextBox 12"/>
          <p:cNvSpPr txBox="1"/>
          <p:nvPr/>
        </p:nvSpPr>
        <p:spPr bwMode="auto">
          <a:xfrm>
            <a:off x="641908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Admin Demo</a:t>
            </a:r>
            <a:endParaRPr/>
          </a:p>
        </p:txBody>
      </p:sp>
      <p:sp>
        <p:nvSpPr>
          <p:cNvPr id="1126437420" name="TextBox 13"/>
          <p:cNvSpPr txBox="1"/>
          <p:nvPr/>
        </p:nvSpPr>
        <p:spPr bwMode="auto">
          <a:xfrm>
            <a:off x="641908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1. Log in as administrator.</a:t>
            </a:r>
            <a:br>
              <a:rPr/>
            </a:br>
            <a:r>
              <a:rPr/>
              <a:t>2. Open Election Setup.</a:t>
            </a:r>
            <a:br>
              <a:rPr/>
            </a:br>
            <a:r>
              <a:rPr/>
              <a:t>3. Show candidates and election status.</a:t>
            </a:r>
            <a:br>
              <a:rPr/>
            </a:br>
            <a:r>
              <a:rPr/>
              <a:t>4. Open Voter Registry.</a:t>
            </a:r>
            <a:br>
              <a:rPr/>
            </a:br>
            <a:r>
              <a:rPr/>
              <a:t>5. Open Results &amp; Tally.</a:t>
            </a:r>
            <a:br>
              <a:rPr/>
            </a:br>
            <a:r>
              <a:rPr/>
              <a:t>6. Open Audit Trail.</a:t>
            </a:r>
            <a:br>
              <a:rPr/>
            </a:br>
            <a:r>
              <a:rPr/>
              <a:t>7. Show that actions are recorded with hashes.</a:t>
            </a:r>
            <a:endParaRPr/>
          </a:p>
        </p:txBody>
      </p:sp>
      <p:sp>
        <p:nvSpPr>
          <p:cNvPr id="284201647" name="TextBox 14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1954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351689" name="Rectangle 2"/>
          <p:cNvSpPr/>
          <p:nvPr/>
        </p:nvSpPr>
        <p:spPr bwMode="auto"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8607610" name="Rectangle 3"/>
          <p:cNvSpPr/>
          <p:nvPr/>
        </p:nvSpPr>
        <p:spPr bwMode="auto"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9778585" name="TextBox 4"/>
          <p:cNvSpPr txBox="1"/>
          <p:nvPr/>
        </p:nvSpPr>
        <p:spPr bwMode="auto"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/>
              <a:t>10. Advantages and Limitations</a:t>
            </a:r>
            <a:endParaRPr/>
          </a:p>
        </p:txBody>
      </p:sp>
      <p:sp>
        <p:nvSpPr>
          <p:cNvPr id="229070227" name="TextBox 5"/>
          <p:cNvSpPr txBox="1"/>
          <p:nvPr/>
        </p:nvSpPr>
        <p:spPr bwMode="auto"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rPr/>
              <a:t>What the demo shows</a:t>
            </a:r>
            <a:endParaRPr/>
          </a:p>
        </p:txBody>
      </p:sp>
      <p:sp>
        <p:nvSpPr>
          <p:cNvPr id="273676307" name="Rounded Rectangle 6"/>
          <p:cNvSpPr/>
          <p:nvPr/>
        </p:nvSpPr>
        <p:spPr bwMode="auto">
          <a:xfrm>
            <a:off x="640080" y="1097280"/>
            <a:ext cx="53949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3937315" name="Rectangle 7"/>
          <p:cNvSpPr/>
          <p:nvPr/>
        </p:nvSpPr>
        <p:spPr bwMode="auto">
          <a:xfrm>
            <a:off x="640080" y="1097280"/>
            <a:ext cx="73152" cy="448056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9540760" name="TextBox 8"/>
          <p:cNvSpPr txBox="1"/>
          <p:nvPr/>
        </p:nvSpPr>
        <p:spPr bwMode="auto">
          <a:xfrm>
            <a:off x="841247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Advantages</a:t>
            </a:r>
            <a:endParaRPr/>
          </a:p>
        </p:txBody>
      </p:sp>
      <p:sp>
        <p:nvSpPr>
          <p:cNvPr id="2076767187" name="TextBox 9"/>
          <p:cNvSpPr txBox="1"/>
          <p:nvPr/>
        </p:nvSpPr>
        <p:spPr bwMode="auto">
          <a:xfrm>
            <a:off x="841247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rPr/>
              <a:t>• Easy-to-use voter interface</a:t>
            </a:r>
            <a:br>
              <a:rPr/>
            </a:br>
            <a:r>
              <a:rPr/>
              <a:t>• Separate voter and admin roles</a:t>
            </a:r>
            <a:br>
              <a:rPr/>
            </a:br>
            <a:r>
              <a:rPr/>
              <a:t>• One-vote rule in the demo</a:t>
            </a:r>
            <a:br>
              <a:rPr/>
            </a:br>
            <a:r>
              <a:rPr/>
              <a:t>• Live vote counting</a:t>
            </a:r>
            <a:br>
              <a:rPr/>
            </a:br>
            <a:r>
              <a:rPr/>
              <a:t>• Receipt for verification</a:t>
            </a:r>
            <a:br>
              <a:rPr/>
            </a:br>
            <a:r>
              <a:rPr/>
              <a:t>• Tamper-evident audit chain</a:t>
            </a:r>
            <a:br>
              <a:rPr/>
            </a:br>
            <a:r>
              <a:rPr/>
              <a:t>• Responsive web layout</a:t>
            </a:r>
            <a:endParaRPr/>
          </a:p>
        </p:txBody>
      </p:sp>
      <p:sp>
        <p:nvSpPr>
          <p:cNvPr id="1168707501" name="Rounded Rectangle 10"/>
          <p:cNvSpPr/>
          <p:nvPr/>
        </p:nvSpPr>
        <p:spPr bwMode="auto">
          <a:xfrm>
            <a:off x="6172200" y="1097280"/>
            <a:ext cx="5394960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2978681" name="Rectangle 11"/>
          <p:cNvSpPr/>
          <p:nvPr/>
        </p:nvSpPr>
        <p:spPr bwMode="auto">
          <a:xfrm>
            <a:off x="61722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041099" name="TextBox 12"/>
          <p:cNvSpPr txBox="1"/>
          <p:nvPr/>
        </p:nvSpPr>
        <p:spPr bwMode="auto">
          <a:xfrm>
            <a:off x="6373368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rPr/>
              <a:t>Limitations of this demo</a:t>
            </a:r>
            <a:endParaRPr/>
          </a:p>
        </p:txBody>
      </p:sp>
      <p:sp>
        <p:nvSpPr>
          <p:cNvPr id="1800909943" name="TextBox 13"/>
          <p:cNvSpPr txBox="1"/>
          <p:nvPr/>
        </p:nvSpPr>
        <p:spPr bwMode="auto">
          <a:xfrm>
            <a:off x="6373368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• Data is stored only in memory and resets when the page is reloaded.</a:t>
            </a:r>
            <a:br>
              <a:rPr/>
            </a:br>
            <a:r>
              <a:rPr/>
              <a:t>• The code comments describe the vote hash as an “encryption” demonstration; technically, SHA-256 hashing is not encryption.</a:t>
            </a:r>
            <a:br>
              <a:rPr/>
            </a:br>
            <a:r>
              <a:rPr/>
              <a:t>• It is a project/demo, not a production-ready national election system.</a:t>
            </a:r>
            <a:br>
              <a:rPr/>
            </a:br>
            <a:r>
              <a:rPr/>
              <a:t>• A real system would need secure backend storage, stronger authentication, key management, and independent security testing.</a:t>
            </a:r>
            <a:endParaRPr/>
          </a:p>
        </p:txBody>
      </p:sp>
      <p:sp>
        <p:nvSpPr>
          <p:cNvPr id="835240319" name="TextBox 14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11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80499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7485906" name="TextBox 2"/>
          <p:cNvSpPr txBox="1"/>
          <p:nvPr/>
        </p:nvSpPr>
        <p:spPr bwMode="auto">
          <a:xfrm>
            <a:off x="731520" y="9144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2548"/>
                </a:solidFill>
                <a:latin typeface="Aptos Display"/>
              </a:defRPr>
            </a:pPr>
            <a:r>
              <a:rPr/>
              <a:t>Conclusion</a:t>
            </a:r>
            <a:endParaRPr/>
          </a:p>
        </p:txBody>
      </p:sp>
      <p:sp>
        <p:nvSpPr>
          <p:cNvPr id="1376039838" name="Rounded Rectangle 3"/>
          <p:cNvSpPr/>
          <p:nvPr/>
        </p:nvSpPr>
        <p:spPr bwMode="auto">
          <a:xfrm>
            <a:off x="731520" y="1828800"/>
            <a:ext cx="10698480" cy="196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9571307" name="Rectangle 4"/>
          <p:cNvSpPr/>
          <p:nvPr/>
        </p:nvSpPr>
        <p:spPr bwMode="auto">
          <a:xfrm>
            <a:off x="731520" y="1828800"/>
            <a:ext cx="73152" cy="19659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754210" name="TextBox 5"/>
          <p:cNvSpPr txBox="1"/>
          <p:nvPr/>
        </p:nvSpPr>
        <p:spPr bwMode="auto">
          <a:xfrm>
            <a:off x="932688" y="1993392"/>
            <a:ext cx="10314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82548"/>
                </a:solidFill>
                <a:latin typeface="Aptos Display"/>
              </a:defRPr>
            </a:pPr>
            <a:r>
              <a:rPr/>
              <a:t>In simple words</a:t>
            </a:r>
            <a:endParaRPr/>
          </a:p>
        </p:txBody>
      </p:sp>
      <p:sp>
        <p:nvSpPr>
          <p:cNvPr id="880220484" name="TextBox 6"/>
          <p:cNvSpPr txBox="1"/>
          <p:nvPr/>
        </p:nvSpPr>
        <p:spPr bwMode="auto">
          <a:xfrm>
            <a:off x="932688" y="2450592"/>
            <a:ext cx="1031443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3B52"/>
                </a:solidFill>
                <a:latin typeface="Aptos"/>
              </a:defRPr>
            </a:pPr>
            <a:r>
              <a:rPr/>
              <a:t>Civic Ballot is a web-based voting demonstration. A voter logs in, chooses a candidate, submits one ballot, and gets a receipt. The administrator manages the election and can check results and a tamper-evident audit trail.</a:t>
            </a:r>
            <a:endParaRPr/>
          </a:p>
        </p:txBody>
      </p:sp>
      <p:sp>
        <p:nvSpPr>
          <p:cNvPr id="395063639" name="Rounded Rectangle 7"/>
          <p:cNvSpPr/>
          <p:nvPr/>
        </p:nvSpPr>
        <p:spPr bwMode="auto">
          <a:xfrm>
            <a:off x="731520" y="4160519"/>
            <a:ext cx="5166360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8113012" name="Rectangle 8"/>
          <p:cNvSpPr/>
          <p:nvPr/>
        </p:nvSpPr>
        <p:spPr bwMode="auto">
          <a:xfrm>
            <a:off x="731520" y="4160519"/>
            <a:ext cx="73152" cy="11887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0474074" name="TextBox 9"/>
          <p:cNvSpPr txBox="1"/>
          <p:nvPr/>
        </p:nvSpPr>
        <p:spPr bwMode="auto">
          <a:xfrm>
            <a:off x="932688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Key takeaway</a:t>
            </a:r>
            <a:endParaRPr/>
          </a:p>
        </p:txBody>
      </p:sp>
      <p:sp>
        <p:nvSpPr>
          <p:cNvPr id="1088963656" name="TextBox 10"/>
          <p:cNvSpPr txBox="1"/>
          <p:nvPr/>
        </p:nvSpPr>
        <p:spPr bwMode="auto">
          <a:xfrm>
            <a:off x="932688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Security + transparency + easy voting</a:t>
            </a:r>
            <a:endParaRPr/>
          </a:p>
        </p:txBody>
      </p:sp>
      <p:sp>
        <p:nvSpPr>
          <p:cNvPr id="302105599" name="Rounded Rectangle 11"/>
          <p:cNvSpPr/>
          <p:nvPr/>
        </p:nvSpPr>
        <p:spPr bwMode="auto">
          <a:xfrm>
            <a:off x="6263640" y="4160519"/>
            <a:ext cx="5166360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4679385" name="Rectangle 12"/>
          <p:cNvSpPr/>
          <p:nvPr/>
        </p:nvSpPr>
        <p:spPr bwMode="auto">
          <a:xfrm>
            <a:off x="6263640" y="4160519"/>
            <a:ext cx="73152" cy="11887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860951" name="TextBox 13"/>
          <p:cNvSpPr txBox="1"/>
          <p:nvPr/>
        </p:nvSpPr>
        <p:spPr bwMode="auto">
          <a:xfrm>
            <a:off x="6464807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rPr/>
              <a:t>Project focus</a:t>
            </a:r>
            <a:endParaRPr/>
          </a:p>
        </p:txBody>
      </p:sp>
      <p:sp>
        <p:nvSpPr>
          <p:cNvPr id="808875919" name="TextBox 14"/>
          <p:cNvSpPr txBox="1"/>
          <p:nvPr/>
        </p:nvSpPr>
        <p:spPr bwMode="auto">
          <a:xfrm>
            <a:off x="6464807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rPr/>
              <a:t>SHA-256 hashing + audit trail + role-based interface</a:t>
            </a:r>
            <a:endParaRPr/>
          </a:p>
        </p:txBody>
      </p:sp>
      <p:sp>
        <p:nvSpPr>
          <p:cNvPr id="1026839633" name="TextBox 15"/>
          <p:cNvSpPr txBox="1"/>
          <p:nvPr/>
        </p:nvSpPr>
        <p:spPr bwMode="auto"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rPr/>
              <a:t>Civic Ballot • Secure Online Voting Demo                                      12</a:t>
            </a:r>
            <a:endParaRPr/>
          </a:p>
        </p:txBody>
      </p:sp>
      <p:sp>
        <p:nvSpPr>
          <p:cNvPr id="1026731091" name="TextBox 16"/>
          <p:cNvSpPr txBox="1"/>
          <p:nvPr/>
        </p:nvSpPr>
        <p:spPr bwMode="auto"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B6478"/>
                </a:solidFill>
                <a:latin typeface="Aptos"/>
              </a:defRPr>
            </a:pPr>
            <a:r>
              <a:rPr/>
              <a:t>Based on the uploaded Civic Ballot HTML/JavaScript project.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119783" name="TextBox 1"/>
          <p:cNvSpPr txBox="1"/>
          <p:nvPr/>
        </p:nvSpPr>
        <p:spPr bwMode="auto">
          <a:xfrm>
            <a:off x="1101213" y="2106213"/>
            <a:ext cx="8416773" cy="731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2200"/>
              <a:t>Github</a:t>
            </a:r>
            <a:r>
              <a:rPr lang="en-IN" sz="2200"/>
              <a:t> link :</a:t>
            </a:r>
            <a:endParaRPr/>
          </a:p>
          <a:p>
            <a:pPr>
              <a:defRPr/>
            </a:pPr>
            <a:r>
              <a:rPr lang="en-IN" sz="2000" u="sng">
                <a:solidFill>
                  <a:srgbClr val="0070C0"/>
                </a:solidFill>
                <a:hlinkClick r:id="rId3" tooltip=""/>
              </a:rPr>
              <a:t>https://github.com/Chaithanya-ai1261/CGI_ELECTOINS_PROJECT</a:t>
            </a:r>
            <a:r>
              <a:rPr lang="en-IN"/>
              <a:t>=</a:t>
            </a:r>
            <a:endParaRPr lang="en-IN" sz="2000">
              <a:solidFill>
                <a:srgbClr val="0070C0"/>
              </a:solidFill>
            </a:endParaRPr>
          </a:p>
        </p:txBody>
      </p:sp>
      <p:sp>
        <p:nvSpPr>
          <p:cNvPr id="174327414" name="TextBox 2"/>
          <p:cNvSpPr txBox="1"/>
          <p:nvPr/>
        </p:nvSpPr>
        <p:spPr bwMode="auto">
          <a:xfrm>
            <a:off x="1101213" y="3105834"/>
            <a:ext cx="102157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2200"/>
              <a:t>Linkedin</a:t>
            </a:r>
            <a:r>
              <a:rPr lang="en-IN" sz="2200"/>
              <a:t> article:</a:t>
            </a:r>
            <a:endParaRPr/>
          </a:p>
          <a:p>
            <a:pPr>
              <a:defRPr/>
            </a:pPr>
            <a:r>
              <a:rPr lang="en-IN" sz="2000" u="sng">
                <a:solidFill>
                  <a:srgbClr val="0070C0"/>
                </a:solidFill>
                <a:hlinkClick r:id="rId4" tooltip=""/>
              </a:rPr>
              <a:t>https://www.linkedin.com/pulse/online-voting-systems-how-work-security-challenges-road-krishna-wsgpf/</a:t>
            </a:r>
            <a:endParaRPr lang="en-IN" sz="2000">
              <a:solidFill>
                <a:srgbClr val="0070C0"/>
              </a:solidFill>
            </a:endParaRPr>
          </a:p>
        </p:txBody>
      </p:sp>
      <p:sp>
        <p:nvSpPr>
          <p:cNvPr id="882493730" name="TextBox 3"/>
          <p:cNvSpPr txBox="1"/>
          <p:nvPr/>
        </p:nvSpPr>
        <p:spPr bwMode="auto">
          <a:xfrm>
            <a:off x="1101213" y="1305995"/>
            <a:ext cx="43831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2800" b="1"/>
              <a:t>Project documentation :</a:t>
            </a:r>
            <a:endParaRPr/>
          </a:p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4337236" name="Picture 1" descr="Customer Thank You Infographic PowerPoint Template and Google Slides Them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51" y="0"/>
            <a:ext cx="1218125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rchway">
  <a:themeElements>
    <a:clrScheme name="Archway">
      <a:dk1>
        <a:sysClr val="windowText" lastClr="FFFFFF"/>
      </a:dk1>
      <a:lt1>
        <a:sysClr val="window" lastClr="000000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Arial"/>
        <a:cs typeface="Arial"/>
      </a:majorFont>
      <a:minorFont>
        <a:latin typeface="Goudy Old Style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Archway">
  <a:themeElements>
    <a:clrScheme name="Archway">
      <a:dk1>
        <a:sysClr val="windowText" lastClr="FFFFFF"/>
      </a:dk1>
      <a:lt1>
        <a:sysClr val="window" lastClr="000000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">
      <a:majorFont>
        <a:latin typeface="Felix Titling"/>
        <a:ea typeface="Arial"/>
        <a:cs typeface="Arial"/>
      </a:majorFont>
      <a:minorFont>
        <a:latin typeface="Goudy Old Style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2026-10-01T09:26:48Z</dcterms:modified>
  <cp:category/>
</cp:coreProperties>
</file>